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Public: Proprietaire/associe de cabinet CPA + potentiellement leur equipe.</a:t>
            </a:r>
          </a:p>
          <a:p>
            <a:r>
              <a:t>Pre-requis: LedgerLink installe avec demo data. Navigateur ouvert sur 127.0.0.1:8787/login.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Faites cette preparation 10 minutes avant l'appel. 5 clients demo pre-configures avec 50 documents couvrant tous les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segments de la demo. Suivez le chronometrage strictement. 15 minutes = credibilite.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Posez la question. Attendez. Notez la reponse. Faites le math a voix haute: [X]h x 150$/h = [$$]/semaine. Annoncez les 4 segments. 'On commence.'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Montrez la file d'attente. Cliquez sur MARCEL. Pointez chaque champ extrait. Insistez sur le calcul parallele TPS/TVQ. Montrez le score de confiance. Cliquez Approuver. Point cle: 10 secondes vs 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Dites: 'Quelque chose qu'aucun autre logiciel ne fait.' Filtrez NeedsReview. Montrez les flags. Override = manager + raison. 13 regles, pas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Naviguez a /filing_summary. Montrez les lignes FPZ-500 pre-remplies. Repas 50%, assurance non recuperable. PDF telechargeable. Si methode rapide: toggle par client. Question: 'Ca prend combien de temps a la main?'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Demandez d'abord s'ils font de l'assurance. Si oui: montrez engagements, materiality, working papers, assertions, financial statements. Si non: passez vite et dites que c'est disponible.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 l'impact. Pause. Chiffres personnalises. Pause. Proposez le pilote 30 jours. Arretez de parler. ATTENDEZ leur reponse. Si oui: planifiez l'installation. Si 'on va y penser': proposez un rappel [date]. Si non: laissez la fiche.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scenarios de recuperation. Ne paniquez jamais. Chaque 'probleme' peut devenir une demo de fonctionnalite. Regle d'or: ne bluffez jamais. 'Je verifie et je vous reviens' est toujours valide.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obligatoire apres chaque demo. Le suivi dans les 2 heures est le plus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56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926080"/>
            <a:ext cx="27432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DC3E6"/>
                </a:solidFill>
                <a:latin typeface="Segoe UI"/>
              </a:defRPr>
            </a:pPr>
            <a:r>
              <a:t>Script de demo en direct --- 15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"/>
              </a:defRPr>
            </a:pPr>
            <a:r>
              <a:t>Guide pas a pas pour le presentateur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Preparation pre-demo (10 min avant)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Segoe UI"/>
              </a:rPr>
              <a:t>1. Demo mode  </a:t>
            </a:r>
            <a:r>
              <a:rPr sz="1800">
                <a:solidFill>
                  <a:srgbClr val="FFFFFF"/>
                </a:solidFill>
                <a:latin typeface="Segoe UI"/>
              </a:rPr>
              <a:t>ledgerlink.config.json: "demo_mode":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7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Segoe UI"/>
              </a:rPr>
              <a:t>2. Charger donnees  </a:t>
            </a:r>
            <a:r>
              <a:rPr sz="1800">
                <a:solidFill>
                  <a:srgbClr val="FFFFFF"/>
                </a:solidFill>
                <a:latin typeface="Segoe UI"/>
              </a:rPr>
              <a:t>python scripts/load_demo_data.py (50 docs, 5 clients)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Segoe UI"/>
              </a:rPr>
              <a:t>3. Redemarrer  </a:t>
            </a:r>
            <a:r>
              <a:rPr sz="1800">
                <a:solidFill>
                  <a:srgbClr val="FFFFFF"/>
                </a:solidFill>
                <a:latin typeface="Segoe UI"/>
              </a:rPr>
              <a:t>sc stop/start LedgerLinkAI ou python review_dashboard.py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Segoe UI"/>
              </a:rPr>
              <a:t>4. Navigateur  </a:t>
            </a:r>
            <a:r>
              <a:rPr sz="1800">
                <a:solidFill>
                  <a:srgbClr val="FFFFFF"/>
                </a:solidFill>
                <a:latin typeface="Segoe UI"/>
              </a:rPr>
              <a:t>127.0.0.1:8787/login, connecte, FR, onglet filing summary pret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Segoe UI"/>
              </a:rPr>
              <a:t>5. Nettoyer  </a:t>
            </a:r>
            <a:r>
              <a:rPr sz="1800">
                <a:solidFill>
                  <a:srgbClr val="FFFFFF"/>
                </a:solidFill>
                <a:latin typeface="Segoe UI"/>
              </a:rPr>
              <a:t>Fermer email, Slack, notifications. Bureau propre.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179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5 clients demo: MARCEL | BOLDUC | DENTAIRE | BOUTIQUE | TECHLAVAL</a:t>
            </a:r>
          </a:p>
          <a:p>
            <a:pPr>
              <a:spcAft>
                <a:spcPts val="10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Chacun a 10 documents incluant: factures, fraude, confiance basse, repas, banque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Chronologie de la demo --- 15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3566160" cy="192024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75B6"/>
                </a:solidFill>
                <a:latin typeface="Segoe UI"/>
              </a:defRPr>
            </a:pPr>
            <a:r>
              <a:t>0:00-2:00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Probleme + Setup</a:t>
            </a:r>
          </a:p>
          <a:p>
            <a:pPr>
              <a:defRPr sz="1400">
                <a:solidFill>
                  <a:srgbClr val="9DC3E6"/>
                </a:solidFill>
                <a:latin typeface="Segoe UI"/>
              </a:defRPr>
            </a:pPr>
            <a:r>
              <a:t>Question sur les heures de saisie.</a:t>
            </a:r>
          </a:p>
          <a:p>
            <a:pPr>
              <a:defRPr sz="1400">
                <a:solidFill>
                  <a:srgbClr val="9DC3E6"/>
                </a:solidFill>
                <a:latin typeface="Segoe UI"/>
              </a:defRPr>
            </a:pPr>
            <a:r>
              <a:t>Les 4 choses a montrer.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103120"/>
            <a:ext cx="3566160" cy="192024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B050"/>
                </a:solidFill>
                <a:latin typeface="Segoe UI"/>
              </a:defRPr>
            </a:pPr>
            <a:r>
              <a:t>2:00-5:00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Extraction auto</a:t>
            </a:r>
          </a:p>
          <a:p>
            <a:pPr>
              <a:defRPr sz="1400">
                <a:solidFill>
                  <a:srgbClr val="9DC3E6"/>
                </a:solidFill>
                <a:latin typeface="Segoe UI"/>
              </a:defRPr>
            </a:pPr>
            <a:r>
              <a:t>Document photo -&gt; GL en 10s.</a:t>
            </a:r>
          </a:p>
          <a:p>
            <a:pPr>
              <a:defRPr sz="1400">
                <a:solidFill>
                  <a:srgbClr val="9DC3E6"/>
                </a:solidFill>
                <a:latin typeface="Segoe UI"/>
              </a:defRPr>
            </a:pPr>
            <a:r>
              <a:t>Confiance, TPS/TVQ, Approuver.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103120"/>
            <a:ext cx="3566160" cy="192024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D7D31"/>
                </a:solidFill>
                <a:latin typeface="Segoe UI"/>
              </a:defRPr>
            </a:pPr>
            <a:r>
              <a:t>5:00-8:00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Detection de fraude</a:t>
            </a:r>
          </a:p>
          <a:p>
            <a:pPr>
              <a:defRPr sz="1400">
                <a:solidFill>
                  <a:srgbClr val="9DC3E6"/>
                </a:solidFill>
                <a:latin typeface="Segoe UI"/>
              </a:defRPr>
            </a:pPr>
            <a:r>
              <a:t>Document signale. 13 regles.</a:t>
            </a:r>
          </a:p>
          <a:p>
            <a:pPr>
              <a:defRPr sz="1400">
                <a:solidFill>
                  <a:srgbClr val="9DC3E6"/>
                </a:solidFill>
                <a:latin typeface="Segoe UI"/>
              </a:defRPr>
            </a:pPr>
            <a:r>
              <a:t>Override = role manager + raison.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97679"/>
            <a:ext cx="3566160" cy="192024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75B6"/>
                </a:solidFill>
                <a:latin typeface="Segoe UI"/>
              </a:defRPr>
            </a:pPr>
            <a:r>
              <a:t>8:00-11:00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FPZ-500 / RQ</a:t>
            </a:r>
          </a:p>
          <a:p>
            <a:pPr>
              <a:defRPr sz="1400">
                <a:solidFill>
                  <a:srgbClr val="9DC3E6"/>
                </a:solidFill>
                <a:latin typeface="Segoe UI"/>
              </a:defRPr>
            </a:pPr>
            <a:r>
              <a:t>Resume de production.</a:t>
            </a:r>
          </a:p>
          <a:p>
            <a:pPr>
              <a:defRPr sz="1400">
                <a:solidFill>
                  <a:srgbClr val="9DC3E6"/>
                </a:solidFill>
                <a:latin typeface="Segoe UI"/>
              </a:defRPr>
            </a:pPr>
            <a:r>
              <a:t>Lignes 103-209 pre-remplies.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297679"/>
            <a:ext cx="3566160" cy="192024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40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406090"/>
                </a:solidFill>
                <a:latin typeface="Segoe UI"/>
              </a:defRPr>
            </a:pPr>
            <a:r>
              <a:t>11:00-14:00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Module d'audit</a:t>
            </a:r>
          </a:p>
          <a:p>
            <a:pPr>
              <a:defRPr sz="1400">
                <a:solidFill>
                  <a:srgbClr val="9DC3E6"/>
                </a:solidFill>
                <a:latin typeface="Segoe UI"/>
              </a:defRPr>
            </a:pPr>
            <a:r>
              <a:t>CAS 315-700. Dossiers de travail.</a:t>
            </a:r>
          </a:p>
          <a:p>
            <a:pPr>
              <a:defRPr sz="1400">
                <a:solidFill>
                  <a:srgbClr val="9DC3E6"/>
                </a:solidFill>
                <a:latin typeface="Segoe UI"/>
              </a:defRPr>
            </a:pPr>
            <a:r>
              <a:t>Etats financiers. (Si pertinent)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297679"/>
            <a:ext cx="3566160" cy="192024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14:00-15:00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Cloture</a:t>
            </a:r>
          </a:p>
          <a:p>
            <a:pPr>
              <a:defRPr sz="1400">
                <a:solidFill>
                  <a:srgbClr val="9DC3E6"/>
                </a:solidFill>
                <a:latin typeface="Segoe UI"/>
              </a:defRPr>
            </a:pPr>
            <a:r>
              <a:t>ROI personnalise.</a:t>
            </a:r>
          </a:p>
          <a:p>
            <a:pPr>
              <a:defRPr sz="1400">
                <a:solidFill>
                  <a:srgbClr val="9DC3E6"/>
                </a:solidFill>
                <a:latin typeface="Segoe UI"/>
              </a:defRPr>
            </a:pPr>
            <a:r>
              <a:t>Pilote 30 jours gratuit.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0:00-2:00 --- Probleme et cadrage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881360" cy="1828800"/>
          </a:xfrm>
          <a:prstGeom prst="round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Ouvrez avec la question: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"Combien d'heures par semaine votre equipe passe-t-elle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a saisir des factures dans QuickBooks?"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Attendez. Notez. Puis faites le calcul a voix haute.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Annoncez les 4 choses a montrer:</a:t>
            </a:r>
          </a:p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1. Document traite automatiquement</a:t>
            </a:r>
          </a:p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2. Detection de fraude en direct</a:t>
            </a:r>
          </a:p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3. Resume de production FPZ-500</a:t>
            </a:r>
          </a:p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4. Module d'audit (si pertinent)</a:t>
            </a:r>
          </a:p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"On commence."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2:00-5:00 --- Extraction automatique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B050"/>
                </a:solidFill>
                <a:latin typeface="Segoe UI"/>
              </a:rPr>
              <a:t>MONTRER  </a:t>
            </a:r>
            <a:r>
              <a:rPr sz="1800">
                <a:solidFill>
                  <a:srgbClr val="FFFFFF"/>
                </a:solidFill>
                <a:latin typeface="Segoe UI"/>
              </a:rPr>
              <a:t>File d'attente --- chaque ligne = un document lu et classe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B050"/>
                </a:solidFill>
                <a:latin typeface="Segoe UI"/>
              </a:rPr>
              <a:t>CLIQUER  </a:t>
            </a:r>
            <a:r>
              <a:rPr sz="1800">
                <a:solidFill>
                  <a:srgbClr val="FFFFFF"/>
                </a:solidFill>
                <a:latin typeface="Segoe UI"/>
              </a:rPr>
              <a:t>Document 'Ready' pour client MARCEL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7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B050"/>
                </a:solidFill>
                <a:latin typeface="Segoe UI"/>
              </a:rPr>
              <a:t>POINTER  </a:t>
            </a:r>
            <a:r>
              <a:rPr sz="1800">
                <a:solidFill>
                  <a:srgbClr val="FFFFFF"/>
                </a:solidFill>
                <a:latin typeface="Segoe UI"/>
              </a:rPr>
              <a:t>Fournisseur | Montant | Date | Compte GL | TPS 5% | TVQ 9,975%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B050"/>
                </a:solidFill>
                <a:latin typeface="Segoe UI"/>
              </a:rPr>
              <a:t>INSISTER  </a:t>
            </a:r>
            <a:r>
              <a:rPr sz="1800">
                <a:solidFill>
                  <a:srgbClr val="FFFFFF"/>
                </a:solidFill>
                <a:latin typeface="Segoe UI"/>
              </a:rPr>
              <a:t>TPS/TVQ en parallele, PAS en cascade --- correct au Quebec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B050"/>
                </a:solidFill>
                <a:latin typeface="Segoe UI"/>
              </a:rPr>
              <a:t>SCROLLER  </a:t>
            </a:r>
            <a:r>
              <a:rPr sz="1800">
                <a:solidFill>
                  <a:srgbClr val="FFFFFF"/>
                </a:solidFill>
                <a:latin typeface="Segoe UI"/>
              </a:rPr>
              <a:t>Score de confiance: &gt;85% = recommande | &lt;85% = revision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B050"/>
                </a:solidFill>
                <a:latin typeface="Segoe UI"/>
              </a:rPr>
              <a:t>CLIQUER  </a:t>
            </a:r>
            <a:r>
              <a:rPr sz="1800">
                <a:solidFill>
                  <a:srgbClr val="FFFFFF"/>
                </a:solidFill>
                <a:latin typeface="Segoe UI"/>
              </a:rPr>
              <a:t>"Approuver" --- un clic, c'est fait, pret pour QBO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D700"/>
                </a:solidFill>
                <a:latin typeface="Segoe UI"/>
              </a:defRPr>
            </a:pPr>
            <a:r>
              <a:t>"De la photo a l'approbation: 10 secondes. Comparez a 5 minutes de saisie manuelle."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5:00-8:00 --- Detection de fraude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881360" cy="9144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"Maintenant, je vais vous montrer quelque chose qu'aucun autre logiciel ne fait."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D7D31"/>
                </a:solidFill>
                <a:latin typeface="Segoe UI"/>
              </a:rPr>
              <a:t>FILTRER  </a:t>
            </a:r>
            <a:r>
              <a:rPr sz="1800">
                <a:solidFill>
                  <a:srgbClr val="FFFFFF"/>
                </a:solidFill>
                <a:latin typeface="Segoe UI"/>
              </a:rPr>
              <a:t>par status 'NeedsReview' --- trouver document BOLDUC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D7D31"/>
                </a:solidFill>
                <a:latin typeface="Segoe UI"/>
              </a:rPr>
              <a:t>CLIQUER  </a:t>
            </a:r>
            <a:r>
              <a:rPr sz="1800">
                <a:solidFill>
                  <a:srgbClr val="FFFFFF"/>
                </a:solidFill>
                <a:latin typeface="Segoe UI"/>
              </a:rPr>
              <a:t>sur le document signale. Scroller aux alertes.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D7D31"/>
                </a:solidFill>
                <a:latin typeface="Segoe UI"/>
              </a:rPr>
              <a:t>LIRE  </a:t>
            </a:r>
            <a:r>
              <a:rPr sz="1800">
                <a:solidFill>
                  <a:srgbClr val="FFFFFF"/>
                </a:solidFill>
                <a:latin typeface="Segoe UI"/>
              </a:rPr>
              <a:t>les flags: Doublon exact | Transaction week-end | Anomalie montant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1207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D7D31"/>
                </a:solidFill>
                <a:latin typeface="Segoe UI"/>
              </a:rPr>
              <a:t>MONTRER  </a:t>
            </a:r>
            <a:r>
              <a:rPr sz="1800">
                <a:solidFill>
                  <a:srgbClr val="FFFFFF"/>
                </a:solidFill>
                <a:latin typeface="Segoe UI"/>
              </a:rPr>
              <a:t>Override = role manager + raison ecrite = piste d'audit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D700"/>
                </a:solidFill>
                <a:latin typeface="Segoe UI"/>
              </a:defRPr>
            </a:pPr>
            <a:r>
              <a:t>"13 regles. Toutes basees sur des regles, pas IA.</a:t>
            </a:r>
          </a:p>
          <a:p>
            <a:pPr>
              <a:spcAft>
                <a:spcPts val="1000"/>
              </a:spcAft>
              <a:defRPr sz="2000" b="1">
                <a:solidFill>
                  <a:srgbClr val="FFD700"/>
                </a:solidFill>
                <a:latin typeface="Segoe UI"/>
              </a:defRPr>
            </a:pPr>
            <a:r>
              <a:t>Severite CRITIQUE ou HAUTE = auto-approbation impossible. Point final."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8:00-11:00 --- Resume de production et Revenu Quebec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881360" cy="9144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Naviguer a /filing_summary --- le moment le plus impressionnant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Segoe UI"/>
              </a:rPr>
              <a:t>Ligne 103  </a:t>
            </a:r>
            <a:r>
              <a:rPr sz="1800">
                <a:solidFill>
                  <a:srgbClr val="FFFFFF"/>
                </a:solidFill>
                <a:latin typeface="Segoe UI"/>
              </a:rPr>
              <a:t>Ventes et fournitures taxables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29184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Segoe UI"/>
              </a:rPr>
              <a:t>Ligne 106  </a:t>
            </a:r>
            <a:r>
              <a:rPr sz="1800">
                <a:solidFill>
                  <a:srgbClr val="FFFFFF"/>
                </a:solidFill>
                <a:latin typeface="Segoe UI"/>
              </a:rPr>
              <a:t>TPS percue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Segoe UI"/>
              </a:rPr>
              <a:t>Ligne 108  </a:t>
            </a:r>
            <a:r>
              <a:rPr sz="1800">
                <a:solidFill>
                  <a:srgbClr val="FFFFFF"/>
                </a:solidFill>
                <a:latin typeface="Segoe UI"/>
              </a:rPr>
              <a:t>Total TPS percue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9319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Segoe UI"/>
              </a:rPr>
              <a:t>Ligne 205  </a:t>
            </a:r>
            <a:r>
              <a:rPr sz="1800">
                <a:solidFill>
                  <a:srgbClr val="FFFFFF"/>
                </a:solidFill>
                <a:latin typeface="Segoe UI"/>
              </a:rPr>
              <a:t>TVQ percue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Segoe UI"/>
              </a:rPr>
              <a:t>Ligne 207  </a:t>
            </a:r>
            <a:r>
              <a:rPr sz="1800">
                <a:solidFill>
                  <a:srgbClr val="FFFFFF"/>
                </a:solidFill>
                <a:latin typeface="Segoe UI"/>
              </a:rPr>
              <a:t>CTI reclames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5720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Segoe UI"/>
              </a:rPr>
              <a:t>Ligne 209  </a:t>
            </a:r>
            <a:r>
              <a:rPr sz="1800">
                <a:solidFill>
                  <a:srgbClr val="FFFFFF"/>
                </a:solidFill>
                <a:latin typeface="Segoe UI"/>
              </a:rPr>
              <a:t>RTI reclames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9DC3E6"/>
                </a:solidFill>
                <a:latin typeface="Segoe UI"/>
              </a:defRPr>
            </a:pPr>
            <a:r>
              <a:t>Inclut: repas 50% | assurance 9% non recuperable | exemptions</a:t>
            </a:r>
          </a:p>
          <a:p>
            <a:pPr>
              <a:spcAft>
                <a:spcPts val="1000"/>
              </a:spcAft>
              <a:defRPr sz="1800" b="0">
                <a:solidFill>
                  <a:srgbClr val="9DC3E6"/>
                </a:solidFill>
                <a:latin typeface="Segoe UI"/>
              </a:defRPr>
            </a:pPr>
            <a:r>
              <a:t>Montrez le PDF telechargeable | Si methode rapide: montrez le toggle par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350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D700"/>
                </a:solidFill>
                <a:latin typeface="Segoe UI"/>
              </a:defRPr>
            </a:pPr>
            <a:r>
              <a:t>"Ce resume, a la main, ca prend combien de temps? Avec LedgerLink, c'est instantane."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11:00-14:00 --- Module d'audit (si pertinent)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029200" cy="10972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D'abord, demandez: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"Votre cabinet fait des missions de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verification, d'examen ou de compilation?"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103120"/>
            <a:ext cx="5577840" cy="1097280"/>
          </a:xfrm>
          <a:prstGeom prst="round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ED7D31"/>
                </a:solidFill>
                <a:latin typeface="Segoe UI"/>
              </a:defRPr>
            </a:pPr>
            <a:r>
              <a:t>Si NON: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"C'est un avantage pour quand vous voudrez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offrir ces services." Passez a la cloture.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D700"/>
                </a:solidFill>
                <a:latin typeface="Segoe UI"/>
              </a:rPr>
              <a:t>/engagements  </a:t>
            </a:r>
            <a:r>
              <a:rPr sz="1700">
                <a:solidFill>
                  <a:srgbClr val="FFFFFF"/>
                </a:solidFill>
                <a:latin typeface="Segoe UI"/>
              </a:rPr>
              <a:t>Liste des engagements en cours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D700"/>
                </a:solidFill>
                <a:latin typeface="Segoe UI"/>
              </a:rPr>
              <a:t>/audit/materiality  </a:t>
            </a:r>
            <a:r>
              <a:rPr sz="1700">
                <a:solidFill>
                  <a:srgbClr val="FFFFFF"/>
                </a:solidFill>
                <a:latin typeface="Segoe UI"/>
              </a:rPr>
              <a:t>CAS 320 --- seuils calcules auto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D700"/>
                </a:solidFill>
                <a:latin typeface="Segoe UI"/>
              </a:rPr>
              <a:t>/working_papers  </a:t>
            </a:r>
            <a:r>
              <a:rPr sz="1700">
                <a:solidFill>
                  <a:srgbClr val="FFFFFF"/>
                </a:solidFill>
                <a:latin typeface="Segoe UI"/>
              </a:rPr>
              <a:t>Dossiers de travail generes du plan comptable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D700"/>
                </a:solidFill>
                <a:latin typeface="Segoe UI"/>
              </a:rPr>
              <a:t>Matrice d'assertions  </a:t>
            </a:r>
            <a:r>
              <a:rPr sz="1700">
                <a:solidFill>
                  <a:srgbClr val="FFFFFF"/>
                </a:solidFill>
                <a:latin typeface="Segoe UI"/>
              </a:rPr>
              <a:t>CAS 500 --- exhaustivite, exactitude, existence, cesure, classement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79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D700"/>
                </a:solidFill>
                <a:latin typeface="Segoe UI"/>
              </a:rPr>
              <a:t>/financial_statements  </a:t>
            </a:r>
            <a:r>
              <a:rPr sz="1700">
                <a:solidFill>
                  <a:srgbClr val="FFFFFF"/>
                </a:solidFill>
                <a:latin typeface="Segoe UI"/>
              </a:rPr>
              <a:t>Bilan + resultats depuis la balance de verification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14:00-15:00 --- Cloture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881360" cy="2286000"/>
          </a:xfrm>
          <a:prstGeom prst="round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900" b="1">
                <a:solidFill>
                  <a:srgbClr val="FFFFFF"/>
                </a:solidFill>
                <a:latin typeface="Segoe UI"/>
              </a:defRPr>
            </a:pPr>
            <a:r>
              <a:t>"Voila ce que LedgerLink fait en 15 minutes de demo."</a:t>
            </a:r>
          </a:p>
          <a:p>
            <a:pPr>
              <a:spcAft>
                <a:spcPts val="400"/>
              </a:spcAft>
              <a:defRPr sz="1900" b="1">
                <a:solidFill>
                  <a:srgbClr val="FFFFFF"/>
                </a:solidFill>
                <a:latin typeface="Segoe UI"/>
              </a:defRPr>
            </a:pPr>
            <a:r>
              <a:t>"Imaginez ce que ca fait sur un mois entier de production."</a:t>
            </a:r>
          </a:p>
          <a:p>
            <a:pPr>
              <a:spcAft>
                <a:spcPts val="400"/>
              </a:spcAft>
              <a:defRPr sz="1800" b="0">
                <a:solidFill>
                  <a:srgbClr val="9DC3E6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900" b="1">
                <a:solidFill>
                  <a:srgbClr val="FFFFFF"/>
                </a:solidFill>
                <a:latin typeface="Segoe UI"/>
              </a:defRPr>
            </a:pPr>
            <a:r>
              <a:t>PAUSE --- laissez le message s'installer</a:t>
            </a:r>
          </a:p>
          <a:p>
            <a:pPr>
              <a:spcAft>
                <a:spcPts val="400"/>
              </a:spcAft>
              <a:defRPr sz="1800" b="0">
                <a:solidFill>
                  <a:srgbClr val="9DC3E6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9DC3E6"/>
                </a:solidFill>
                <a:latin typeface="Segoe UI"/>
              </a:defRPr>
            </a:pPr>
            <a:r>
              <a:t>"Pour [NomDuCabinet] avec [X] clients: [Y]h economisees/mois.</a:t>
            </a:r>
          </a:p>
          <a:p>
            <a:pPr>
              <a:spcAft>
                <a:spcPts val="400"/>
              </a:spcAft>
              <a:defRPr sz="1800" b="0">
                <a:solidFill>
                  <a:srgbClr val="9DC3E6"/>
                </a:solidFill>
                <a:latin typeface="Segoe UI"/>
              </a:defRPr>
            </a:pPr>
            <a:r>
              <a:t>A 150$/h = [Z]$/mois. LedgerLink [forfait] coute [prix]$/mois."</a:t>
            </a:r>
          </a:p>
          <a:p>
            <a:pPr>
              <a:spcAft>
                <a:spcPts val="400"/>
              </a:spcAft>
              <a:defRPr sz="1800" b="0">
                <a:solidFill>
                  <a:srgbClr val="9DC3E6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900" b="1">
                <a:solidFill>
                  <a:srgbClr val="FFFFFF"/>
                </a:solidFill>
                <a:latin typeface="Segoe UI"/>
              </a:defRPr>
            </a:pPr>
            <a:r>
              <a:t>PAUSE --- laissez les chiffres parler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754880"/>
            <a:ext cx="10881360" cy="164592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"On fait un pilote de 30 jours. Gratuit. 5 clients cette semaine.</a:t>
            </a:r>
          </a:p>
          <a:p>
            <a:pPr>
              <a:spcAft>
                <a:spcPts val="4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Aucune obligation. Aucun paiement. Si ca ne convient pas,</a:t>
            </a:r>
          </a:p>
          <a:p>
            <a:pPr>
              <a:spcAft>
                <a:spcPts val="4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on desinstalle et on reste amis. Est-ce qu'on commence?"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Scenarios de recuperation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D7D31"/>
                </a:solidFill>
                <a:latin typeface="Segoe UI"/>
              </a:rPr>
              <a:t>Dashboard ne charge pas:  </a:t>
            </a:r>
            <a:r>
              <a:rPr sz="1500">
                <a:solidFill>
                  <a:srgbClr val="FFFFFF"/>
                </a:solidFill>
                <a:latin typeface="Segoe UI"/>
              </a:rPr>
              <a:t>"Un instant, le serveur redemarre." | Lancez autofix.py --- "C'est le diagnostic auto en action."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75B6"/>
                </a:solidFill>
                <a:latin typeface="Segoe UI"/>
              </a:rPr>
              <a:t>Erreur d'extraction:  </a:t>
            </a:r>
            <a:r>
              <a:rPr sz="1500">
                <a:solidFill>
                  <a:srgbClr val="FFFFFF"/>
                </a:solidFill>
                <a:latin typeface="Segoe UI"/>
              </a:rPr>
              <a:t>"Parfait --- c'est exactement ce que le systeme devrait faire. | Confiance basse = revision. L'equipe corrige, le systeme apprend."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406090"/>
                </a:solidFill>
                <a:latin typeface="Segoe UI"/>
              </a:rPr>
              <a:t>Donnees demo maigres:  </a:t>
            </a:r>
            <a:r>
              <a:rPr sz="1500">
                <a:solidFill>
                  <a:srgbClr val="FFFFFF"/>
                </a:solidFill>
                <a:latin typeface="Segoe UI"/>
              </a:rPr>
              <a:t>"Environnement de demo avec donnees synthetiques. | Votre vrai environnement: vrais montants et fournisseurs."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B050"/>
                </a:solidFill>
                <a:latin typeface="Segoe UI"/>
              </a:rPr>
              <a:t>Question QBO:  </a:t>
            </a:r>
            <a:r>
              <a:rPr sz="1500">
                <a:solidFill>
                  <a:srgbClr val="FFFFFF"/>
                </a:solidFill>
                <a:latin typeface="Segoe UI"/>
              </a:rPr>
              <a:t>"Integration QBO directe via API. Pas de vrai compte en demo, | mais je peux montrer une ecriture construite."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D700"/>
                </a:solidFill>
                <a:latin typeface="Segoe UI"/>
              </a:rPr>
              <a:t>Question inconnue:  </a:t>
            </a:r>
            <a:r>
              <a:rPr sz="1500">
                <a:solidFill>
                  <a:srgbClr val="FFFFFF"/>
                </a:solidFill>
                <a:latin typeface="Segoe UI"/>
              </a:rPr>
              <a:t>"Excellente question. Je verifie et je vous reviens | par courriel aujourd'hui." NE BLUFFEZ JAMAIS.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Checklist post-demo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B050"/>
                </a:solidFill>
                <a:latin typeface="Segoe UI"/>
              </a:rPr>
              <a:t>  </a:t>
            </a:r>
            <a:r>
              <a:rPr sz="1900">
                <a:solidFill>
                  <a:srgbClr val="FFFFFF"/>
                </a:solidFill>
                <a:latin typeface="Segoe UI"/>
              </a:rPr>
              <a:t>Envoyer le courriel de suivi dans les 2 heures (EMAIL_TEMPLATES.md)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7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B050"/>
                </a:solidFill>
                <a:latin typeface="Segoe UI"/>
              </a:rPr>
              <a:t>  </a:t>
            </a:r>
            <a:r>
              <a:rPr sz="1900">
                <a:solidFill>
                  <a:srgbClr val="FFFFFF"/>
                </a:solidFill>
                <a:latin typeface="Segoe UI"/>
              </a:rPr>
              <a:t>Inclure les chiffres specifiques de la demo (clients, heures, ROI)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B050"/>
                </a:solidFill>
                <a:latin typeface="Segoe UI"/>
              </a:rPr>
              <a:t>  </a:t>
            </a:r>
            <a:r>
              <a:rPr sz="1900">
                <a:solidFill>
                  <a:srgbClr val="FFFFFF"/>
                </a:solidFill>
                <a:latin typeface="Segoe UI"/>
              </a:rPr>
              <a:t>Si OUI au pilote: planifier l'installation dans les 48 heures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B050"/>
                </a:solidFill>
                <a:latin typeface="Segoe UI"/>
              </a:rPr>
              <a:t>  </a:t>
            </a:r>
            <a:r>
              <a:rPr sz="1900">
                <a:solidFill>
                  <a:srgbClr val="FFFFFF"/>
                </a:solidFill>
                <a:latin typeface="Segoe UI"/>
              </a:rPr>
              <a:t>Si 'on va y penser': rappel dans le calendrier a la date convenue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B050"/>
                </a:solidFill>
                <a:latin typeface="Segoe UI"/>
              </a:rPr>
              <a:t>  </a:t>
            </a:r>
            <a:r>
              <a:rPr sz="1900">
                <a:solidFill>
                  <a:srgbClr val="FFFFFF"/>
                </a:solidFill>
                <a:latin typeface="Segoe UI"/>
              </a:rPr>
              <a:t>Si NON: ajouter a la liste de contact trimestriel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B050"/>
                </a:solidFill>
                <a:latin typeface="Segoe UI"/>
              </a:rPr>
              <a:t>  </a:t>
            </a:r>
            <a:r>
              <a:rPr sz="1900">
                <a:solidFill>
                  <a:srgbClr val="FFFFFF"/>
                </a:solidFill>
                <a:latin typeface="Segoe UI"/>
              </a:rPr>
              <a:t>Logger la demo dans le CRM avec notes sur les douleurs specifiques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B050"/>
                </a:solidFill>
                <a:latin typeface="Segoe UI"/>
              </a:rPr>
              <a:t>  </a:t>
            </a:r>
            <a:r>
              <a:rPr sz="1900">
                <a:solidFill>
                  <a:srgbClr val="FFFFFF"/>
                </a:solidFill>
                <a:latin typeface="Segoe UI"/>
              </a:rPr>
              <a:t>Desactiver demo_mode: "demo_mode": false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