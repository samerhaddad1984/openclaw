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jamais envoyer sans personnaliser les [crochets]. Chaque courriel doit sembler ecrit specifiquement pour le destinataire.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regles universelles: court, 1 CTA, personnalise, mardi-jeudi 8-10h, prenom, pas de PJ, Re:, telephone.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Premier email. Court, personnalise, un seul CTA: la demo de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 court que le premier. Utilisez Re: dans l'objet.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 respectueux. Offrez de recontacter plus tard. Laissez une porte ouverte.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Envoyez dans les 2 heures. Incluez LEURS chiffres specifiques.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Email formel de proposition. Resumez tout clairement. Un seul CTA: commencer le pilote.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Envoyez 30 jours avant l'expiration. Grace de 30 jours mais fonctionnalites limitees.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 decontracte. Montrez du progres. Laissez une porte ouverte.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56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DC3E6"/>
                </a:solidFill>
                <a:latin typeface="Segoe UI"/>
              </a:defRPr>
            </a:pPr>
            <a:r>
              <a:t>Modeles de courriels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Copiez. Personnalisez. Envoyez.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Regles generales pour TOUS les courriels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&lt; 150 mots  </a:t>
            </a:r>
            <a:r>
              <a:rPr sz="1800">
                <a:solidFill>
                  <a:srgbClr val="FFFFFF"/>
                </a:solidFill>
                <a:latin typeface="Segoe UI"/>
              </a:rPr>
              <a:t>pour le cold outreach, &lt; 200 pour les relances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031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1 seul CTA  </a:t>
            </a:r>
            <a:r>
              <a:rPr sz="1800">
                <a:solidFill>
                  <a:srgbClr val="FFFFFF"/>
                </a:solidFill>
                <a:latin typeface="Segoe UI"/>
              </a:rPr>
              <a:t>par courriel --- pas de video + demo + site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Personnalisez  </a:t>
            </a:r>
            <a:r>
              <a:rPr sz="1800">
                <a:solidFill>
                  <a:srgbClr val="FFFFFF"/>
                </a:solidFill>
                <a:latin typeface="Segoe UI"/>
              </a:rPr>
              <a:t>tout ce qui est entre [crochets]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108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Mardi-Jeudi  </a:t>
            </a:r>
            <a:r>
              <a:rPr sz="1800">
                <a:solidFill>
                  <a:srgbClr val="FFFFFF"/>
                </a:solidFill>
                <a:latin typeface="Segoe UI"/>
              </a:rPr>
              <a:t>entre 8h et 10h --- meilleur taux d'ouverture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Prenom  </a:t>
            </a:r>
            <a:r>
              <a:rPr sz="1800">
                <a:solidFill>
                  <a:srgbClr val="FFFFFF"/>
                </a:solidFill>
                <a:latin typeface="Segoe UI"/>
              </a:rPr>
              <a:t>jamais "Dear" ou "A qui de droit"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114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Pas de PJ  </a:t>
            </a:r>
            <a:r>
              <a:rPr sz="1800">
                <a:solidFill>
                  <a:srgbClr val="FFFFFF"/>
                </a:solidFill>
                <a:latin typeface="Segoe UI"/>
              </a:rPr>
              <a:t>en cold email --- declenchent les filtres anti-spam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Re:  </a:t>
            </a:r>
            <a:r>
              <a:rPr sz="1800">
                <a:solidFill>
                  <a:srgbClr val="FFFFFF"/>
                </a:solidFill>
                <a:latin typeface="Segoe UI"/>
              </a:rPr>
              <a:t>dans l'objet des relances pour la continuite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120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Segoe UI"/>
              </a:rPr>
              <a:t>Telephone  </a:t>
            </a:r>
            <a:r>
              <a:rPr sz="1800">
                <a:solidFill>
                  <a:srgbClr val="FFFFFF"/>
                </a:solidFill>
                <a:latin typeface="Segoe UI"/>
              </a:rPr>
              <a:t>inclus --- certains preferent appeler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1. Premier contact (Cold Outreach)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D700"/>
                </a:solidFill>
                <a:latin typeface="Segoe UI"/>
              </a:rPr>
              <a:t>Objet: '[Prenom], 160 heures/mois de saisie eliminees?'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4114800"/>
          </a:xfrm>
          <a:prstGeom prst="roundRect">
            <a:avLst/>
          </a:prstGeom>
          <a:solidFill>
            <a:srgbClr val="182C5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Bonjour [Prenom],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Je m'appelle [votre nom], je travaille chez LedgerLink.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On aide les cabinets CPA du Quebec a eliminer la saisie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manuelle de factures avec l'IA. Le calcul TPS/TVQ est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100% base sur des regles --- zero erreur.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Pour [X] clients comme [NomDuCabinet], ca represente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environ [Y] heures de saisie eliminees par mois.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Demo de 15 minutes cette semaine?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2. Relance Jour 3 (pas de reponse)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D700"/>
                </a:solidFill>
                <a:latin typeface="Segoe UI"/>
              </a:rPr>
              <a:t>Objet: 'Re: [Prenom], 160 heures/mois de saisie eliminees?'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4114800"/>
          </a:xfrm>
          <a:prstGeom prst="roundRect">
            <a:avLst/>
          </a:prstGeom>
          <a:solidFill>
            <a:srgbClr val="182C5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Bonjour [Prenom],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Je voulais m'assurer que mon courriel s'est bien rendu.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En un mot: LedgerLink automatise la saisie comptable.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Photo de facture -&gt; extraction auto -&gt; clic pour approuver.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15 minutes pour voir --- ca vous dit?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3. Relance Jour 7 (derniere question)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D700"/>
                </a:solidFill>
                <a:latin typeface="Segoe UI"/>
              </a:rPr>
              <a:t>Objet: 'Derniere question, [Prenom]'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4114800"/>
          </a:xfrm>
          <a:prstGeom prst="roundRect">
            <a:avLst/>
          </a:prstGeom>
          <a:solidFill>
            <a:srgbClr val="182C5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Bonjour [Prenom],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Je ne veux pas encombrer votre boite de reception.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Est-ce que l'automatisation de la saisie est un projet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pour 2026 chez [NomDuCabinet], ou pour plus tard?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Si plus tard, je me note de vous recontacter.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4. Suivi post-demo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D700"/>
                </a:solidFill>
                <a:latin typeface="Segoe UI"/>
              </a:rPr>
              <a:t>Objet: 'Merci pour la demo, [Prenom] --- resume + prochaines etapes'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4114800"/>
          </a:xfrm>
          <a:prstGeom prst="roundRect">
            <a:avLst/>
          </a:prstGeom>
          <a:solidFill>
            <a:srgbClr val="182C5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Bonjour [Prenom], merci pour votre temps.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FD700"/>
                </a:solidFill>
                <a:latin typeface="Segoe UI"/>
              </a:defRPr>
            </a:pPr>
            <a:r>
              <a:t>CE QU'ON A VU: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Extraction auto (photo -&gt; GL en 10s)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Detection de fraude (13 regles)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Pre-remplissage FPZ-500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FD700"/>
                </a:solidFill>
                <a:latin typeface="Segoe UI"/>
              </a:defRPr>
            </a:pPr>
            <a:r>
              <a:t>VOS CHIFFRES: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[X] clients, [Y]h de saisie/mois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Valeur: [Z]$/mois a 150$/h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Forfait recommande: [plan] a [prix]$/mois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FD700"/>
                </a:solidFill>
                <a:latin typeface="Segoe UI"/>
              </a:defRPr>
            </a:pPr>
            <a:r>
              <a:t>PROCHAINE ETAPE: [pilote/demo equipe/rappel]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5. Proposition avec prix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D700"/>
                </a:solidFill>
                <a:latin typeface="Segoe UI"/>
              </a:rPr>
              <a:t>Objet: 'Proposition LedgerLink pour [NomDuCabinet]'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4114800"/>
          </a:xfrm>
          <a:prstGeom prst="roundRect">
            <a:avLst/>
          </a:prstGeom>
          <a:solidFill>
            <a:srgbClr val="182C5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Suite a notre conversation, voici notre proposition.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FD700"/>
                </a:solidFill>
                <a:latin typeface="Segoe UI"/>
              </a:defRPr>
            </a:pPr>
            <a:r>
              <a:t>FORFAIT: [Professionnel/Cabinet/Entreprise]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[249/499/999]$/mois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[30/75/illimite] clients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Installation: [500-1000]$ (une fois)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FD700"/>
                </a:solidFill>
                <a:latin typeface="Segoe UI"/>
              </a:defRPr>
            </a:pPr>
            <a:r>
              <a:t>INCLUS: Extraction IA, TPS/TVQ auto, fraude,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rapprochement bancaire, FPZ-500, bilingue, Loi 25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FD700"/>
                </a:solidFill>
                <a:latin typeface="Segoe UI"/>
              </a:defRPr>
            </a:pPr>
            <a:r>
              <a:t>PILOTE GRATUIT: 30 jours, 5 clients, 0 obligation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6. Renouvellement (30 jours avant)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D700"/>
                </a:solidFill>
                <a:latin typeface="Segoe UI"/>
              </a:rPr>
              <a:t>Objet: 'Renouvellement LedgerLink --- expire le [date]'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4114800"/>
          </a:xfrm>
          <a:prstGeom prst="roundRect">
            <a:avLst/>
          </a:prstGeom>
          <a:solidFill>
            <a:srgbClr val="182C5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Votre licence [forfait] expire le [date].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 b="1">
                <a:solidFill>
                  <a:srgbClr val="FFD700"/>
                </a:solidFill>
                <a:latin typeface="Segoe UI"/>
              </a:defRPr>
            </a:pPr>
            <a:r>
              <a:t>POUR RENOUVELER: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1. Nouvelle cle de licence pour [12/24] mois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2. Activer dans le tableau de bord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3. C'est tout.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VOTRE FORFAIT ACTUEL: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[Plan] a [prix]$/mois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[X]/[Y] clients actifs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Changement de forfait? C'est le bon moment.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7. Win-Back (prospect qui a dit 'pas maintenant')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D700"/>
                </a:solidFill>
                <a:latin typeface="Segoe UI"/>
              </a:rPr>
              <a:t>Objet: '[Prenom], les choses ont change depuis [mois]'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4114800"/>
          </a:xfrm>
          <a:prstGeom prst="roundRect">
            <a:avLst/>
          </a:prstGeom>
          <a:solidFill>
            <a:srgbClr val="182C5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On s'est parle en [mois]. Le timing n'etait pas bon.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Depuis, on a ajoute: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[Fonctionnalite 1 pertinente pour eux]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[Fonctionnalite 2]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- [Fonctionnalite 3]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Et on a maintenant [X] cabinets CPA au Quebec.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Le timing est meilleur? 15 min pour les nouveautes?</a:t>
            </a:r>
          </a:p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Sinon, je me note de recontacter dans [3/6] mois.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