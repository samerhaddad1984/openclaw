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merci de me recevoir. Je m'appelle [votre nom], je travaille chez LedgerLink. On aide les cabinets CPA du Quebec a automatiser la saisie comptable avec l'intelligence artificielle --- tout en gardant le controle humain sur chaque transaction. Je vais vous montrer comment en 15 minutes.</a:t>
            </a:r>
          </a:p>
          <a:p/>
          <a:p>
            <a:r>
              <a:t>Timing: 30 secondes maximum. Ne decrivez pas le produit. Presentez-vous, remerciez, fixez l'attente de temps.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Posez la question. Attendez. Ne parlez pas. Laissez-les repondre.</a:t>
            </a:r>
          </a:p>
          <a:p/>
          <a:p>
            <a:r>
              <a:t>Leur reponse est votre argument de vente. Quand ils disent 'au moins 20 heures' ou 'trop', acquiescez et dites:</a:t>
            </a:r>
          </a:p>
          <a:p/>
          <a:p>
            <a:r>
              <a:t>'Exactement. Et chaque heure de saisie manuelle, c'est une heure que vous ne facturez pas. A 150$ de l'heure, 20 heures par semaine, c'est 12 000$ par mois que votre cabinet laisse sur la table.'</a:t>
            </a:r>
          </a:p>
          <a:p/>
          <a:p>
            <a:r>
              <a:t>Si le cabinet a 30 clients: 30 clients x 5 heures de saisie = 150 heures/mois = 22 500$/mois en capacite perdue.</a:t>
            </a:r>
          </a:p>
          <a:p/>
          <a:p>
            <a:r>
              <a:t>Ne montrez pas encore la solution. Laissez la douleur s'installer.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solution, c'est simple. Votre client prend une photo de sa facture. LedgerLink lit le document, extrait le fournisseur, le montant, la date, calcule les taxes, suggere le compte GL, et votre equipe n'a qu'a cliquer Approuver. C'est tout.'</a:t>
            </a:r>
          </a:p>
          <a:p/>
          <a:p>
            <a:r>
              <a:t>Une phrase. Arretez. Puis dites: 'Laissez-moi vous montrer.'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qui distingue LedgerLink des autres outils IA, c'est l'architecture en trois couches.'</a:t>
            </a:r>
          </a:p>
          <a:p/>
          <a:p>
            <a:r>
              <a:t>'Couche 1 : les taxes, la detection de fraude, et la classification comptable sont 100% basees sur des regles. Pas d'IA. Pas d'hallucination. Les calculs TPS/TVQ utilisent la librairie Decimal de Python --- zero erreur d'arrondi.'</a:t>
            </a:r>
          </a:p>
          <a:p/>
          <a:p>
            <a:r>
              <a:t>'Couche 2 : l'IA fait la lecture des documents et suggere des comptes. Mais elle ne decide de rien.'</a:t>
            </a:r>
          </a:p>
          <a:p/>
          <a:p>
            <a:r>
              <a:t>'Couche 3 : votre equipe a le dernier mot. Toujours. Chaque transaction doit etre approuvee par un humain avant d'etre soumise a QuickBooks.'</a:t>
            </a:r>
          </a:p>
          <a:p/>
          <a:p>
            <a:r>
              <a:t>'Ca repond a la question est-ce qu'on peut lui faire confiance avant meme que vous la posiez.'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notre avantage le plus fort. LedgerLink est le seul logiciel construit specifiquement pour la fiscalite quebecoise.'</a:t>
            </a:r>
          </a:p>
          <a:p/>
          <a:p>
            <a:r>
              <a:t>'TaxDome? Base a San Francisco, concu pour les Etats-Unis. Karbon? Australie. CaseWare? Ontario, TVH. Aucun ne gere le calcul parallele TPS/TVQ. Aucun ne pre-remplit le FPZ-500. Aucun ne comprend la methode rapide.'</a:t>
            </a:r>
          </a:p>
          <a:p/>
          <a:p>
            <a:r>
              <a:t>'Et surtout, aucun ne vous permet d'heberger les donnees sur votre propre serveur. Avec la Loi 25, c'est vous personnellement qui etes responsable des donnees de vos clients. Avec LedgerLink, les donnees restent chez vous.'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un sujet emotionnel pour les cabinets CPA au Quebec, et avec raison.'</a:t>
            </a:r>
          </a:p>
          <a:p/>
          <a:p>
            <a:r>
              <a:t>'Depuis la Loi 25, vous etes personnellement responsable des donnees de vos clients. Pas votre cabinet --- vous. Si les donnees de vos clients sont sur un serveur Amazon aux Etats-Unis et qu'il y a une breche, c'est votre nom sur l'avis de la Commission d'acces a l'information.'</a:t>
            </a:r>
          </a:p>
          <a:p/>
          <a:p>
            <a:r>
              <a:t>'Avec LedgerLink, les donnees restent sur votre serveur. Dans votre bureau. Sous votre controle. Point final.'</a:t>
            </a:r>
          </a:p>
          <a:p/>
          <a:p>
            <a:r>
              <a:t>'L'IA traite les documents, mais rien n'est stocke dans le cloud. Les resultats d'extraction sont sauvegardes dans votre base de donnees locale SQLite.'</a:t>
            </a:r>
          </a:p>
          <a:p/>
          <a:p>
            <a:r>
              <a:t>Pause. Laissez le message s'imprimer.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les chiffres. Pas de marketing, juste du math.'</a:t>
            </a:r>
          </a:p>
          <a:p/>
          <a:p>
            <a:r>
              <a:t>'Pour un cabinet de 30 clients, LedgerLink economise environ 160 heures par mois. A 150 dollars de l'heure, c'est 24 000 dollars par mois en capacite recuperee. LedgerLink coute 249 dollars par mois.'</a:t>
            </a:r>
          </a:p>
          <a:p/>
          <a:p>
            <a:r>
              <a:t>Pause. Laissez les chiffres parler.</a:t>
            </a:r>
          </a:p>
          <a:p/>
          <a:p>
            <a:r>
              <a:t>'Qu'est-ce que vous feriez avec 160 heures de plus par mois? Prendre 10 nouveaux clients? Offrir des services-conseils a plus haute valeur? Donner des vendredis libres a votre equipe?'</a:t>
            </a:r>
          </a:p>
          <a:p/>
          <a:p>
            <a:r>
              <a:t>Ne repondez pas a votre propre question. Laissez-les y penser.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les cabinets qui font des missions de verification, d'examen ou de compilation, le module d'audit justifie a lui seul le prix de LedgerLink.'</a:t>
            </a:r>
          </a:p>
          <a:p/>
          <a:p>
            <a:r>
              <a:t>'On couvre les normes CAS 315 a 700 plus CSQC 1. Dossiers de travail, importance relative, echantillonnage, elements probants, evenements posterieurs, continuite d'exploitation --- tout integre dans le meme systeme que votre comptabilite.'</a:t>
            </a:r>
          </a:p>
          <a:p/>
          <a:p>
            <a:r>
              <a:t>'Est-ce que vous faites des missions de certification? Des examens?'</a:t>
            </a:r>
          </a:p>
          <a:p/>
          <a:p>
            <a:r>
              <a:t>Adaptez votre discours selon la reponse. Si oui, insistez. Si non, passez rapidement et dites 'C'est un avantage pour quand vous voudrez offrir ces services.'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Dites le prix avec confiance. Ne vous excusez pas. Ne dites pas 'seulement' ou 'juste'. Dites:</a:t>
            </a:r>
          </a:p>
          <a:p/>
          <a:p>
            <a:r>
              <a:t>'Le forfait Professionnel est a 249 dollars par mois. Ca inclut 30 clients, 5 utilisateurs, le routeur IA, le rapprochement bancaire, la detection de fraude, et le pre-remplissage Revenu Quebec.'</a:t>
            </a:r>
          </a:p>
          <a:p/>
          <a:p>
            <a:r>
              <a:t>Arretez de parler. Laissez le silence travailler.</a:t>
            </a:r>
          </a:p>
          <a:p/>
          <a:p>
            <a:r>
              <a:t>S'ils ne reagissent pas, ajoutez: 'A 150 dollars de l'heure, LedgerLink se paie en moins de 2 heures de travail economise. Le premier mois.'</a:t>
            </a:r>
          </a:p>
          <a:p/>
          <a:p>
            <a:r>
              <a:t>Ne proposez jamais de rabais sans qu'on vous le demande.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les prochaines etapes.'</a:t>
            </a:r>
          </a:p>
          <a:p/>
          <a:p>
            <a:r>
              <a:t>'D'abord, je vous montre le logiciel en direct. 15 minutes, avec de vrais documents. Pas de diapositives.'</a:t>
            </a:r>
          </a:p>
          <a:p/>
          <a:p>
            <a:r>
              <a:t>'Ensuite, si ca vous interesse, on installe un pilote gratuit de 30 jours. Vous choisissez 5 clients, on les configure, et vous voyez par vous-meme si ca vous fait gagner du temps.'</a:t>
            </a:r>
          </a:p>
          <a:p/>
          <a:p>
            <a:r>
              <a:t>'Apres 30 jours, vous decidez. Aucune obligation. Aucun paiement pendant le pilote. Si ca ne vous convient pas, on desinstalle et on reste amis.'</a:t>
            </a:r>
          </a:p>
          <a:p/>
          <a:p>
            <a:r>
              <a:t>L'objectif est de retirer toute friction. Rendez la prochaine etape evidente et facile.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est un nouveau produit, alors plutot que des temoignages, je vais vous montrer nos resultats de tests independants.'</a:t>
            </a:r>
          </a:p>
          <a:p/>
          <a:p>
            <a:r>
              <a:t>'Un red team independant a fait passer 2 853 tests au systeme. Zero echec. 147 tests adversariaux specifiquement concus pour casser le systeme --- tous passes. Score de preparation a la production: 100 sur 100.'</a:t>
            </a:r>
          </a:p>
          <a:p/>
          <a:p>
            <a:r>
              <a:t>'Et zero erreur de calcul de taxe. Parce que les taxes ne sont jamais calculees par l'IA --- c'est du math pur, verifie independamment.'</a:t>
            </a:r>
          </a:p>
          <a:p/>
          <a:p>
            <a:r>
              <a:t>Quand vous aurez de vrais temoignages clients, remplacez cette diapositive.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pour votre temps. Est-ce qu'on peut planifier une demo de 15 minutes cette semaine? Je vous montre le logiciel avec vos vrais documents.'</a:t>
            </a:r>
          </a:p>
          <a:p/>
          <a:p>
            <a:r>
              <a:t>Arretez de parler. Attendez leur reponse.</a:t>
            </a:r>
          </a:p>
          <a:p/>
          <a:p>
            <a:r>
              <a:t>Si oui: sortez votre calendrier et bloquez le rendez-vous immediatement. Ne dites pas 'je vous envoie un courriel'. Faites-le maintenant.</a:t>
            </a:r>
          </a:p>
          <a:p/>
          <a:p>
            <a:r>
              <a:t>Si 'on va y penser': 'Parfait. Est-ce que je peux vous envoyer un resume par courriel et vous recontacter [jour precis]?' Obtenez un engagement sur une date.</a:t>
            </a:r>
          </a:p>
          <a:p/>
          <a:p>
            <a:r>
              <a:t>Si non: 'Je comprends. Est-ce que je peux vous laisser notre fiche-resume? Si jamais la situation change, vous aurez mes coordonnees.' Laissez la fiche et partez.</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sp>
        <p:nvSpPr>
          <p:cNvPr id="2" name="TextBox 1"/>
          <p:cNvSpPr txBox="1"/>
          <p:nvPr/>
        </p:nvSpPr>
        <p:spPr>
          <a:xfrm>
            <a:off x="914400" y="1645920"/>
            <a:ext cx="10058400" cy="1371600"/>
          </a:xfrm>
          <a:prstGeom prst="rect">
            <a:avLst/>
          </a:prstGeom>
          <a:noFill/>
        </p:spPr>
        <p:txBody>
          <a:bodyPr wrap="none">
            <a:spAutoFit/>
          </a:bodyPr>
          <a:lstStyle/>
          <a:p>
            <a:pPr algn="ctr"/>
            <a:r>
              <a:rPr sz="6400" b="1">
                <a:solidFill>
                  <a:srgbClr val="FFFFFF"/>
                </a:solidFill>
                <a:latin typeface="Segoe UI"/>
              </a:rPr>
              <a:t>LedgerLink</a:t>
            </a:r>
            <a:r>
              <a:rPr sz="6400" b="1">
                <a:solidFill>
                  <a:srgbClr val="FFD700"/>
                </a:solidFill>
                <a:latin typeface="Segoe UI"/>
              </a:rPr>
              <a:t> AI</a:t>
            </a:r>
          </a:p>
        </p:txBody>
      </p:sp>
      <p:sp>
        <p:nvSpPr>
          <p:cNvPr id="3" name="TextBox 2"/>
          <p:cNvSpPr txBox="1"/>
          <p:nvPr/>
        </p:nvSpPr>
        <p:spPr>
          <a:xfrm>
            <a:off x="914400" y="3108960"/>
            <a:ext cx="10058400" cy="914400"/>
          </a:xfrm>
          <a:prstGeom prst="rect">
            <a:avLst/>
          </a:prstGeom>
          <a:noFill/>
        </p:spPr>
        <p:txBody>
          <a:bodyPr wrap="none">
            <a:spAutoFit/>
          </a:bodyPr>
          <a:lstStyle/>
          <a:p>
            <a:pPr algn="ctr">
              <a:defRPr sz="2800">
                <a:solidFill>
                  <a:srgbClr val="9DC3E6"/>
                </a:solidFill>
                <a:latin typeface="Segoe UI"/>
              </a:defRPr>
            </a:pPr>
            <a:r>
              <a:t>La comptabilite intelligente pour les cabinets CPA du Quebec</a:t>
            </a:r>
          </a:p>
        </p:txBody>
      </p:sp>
      <p:sp>
        <p:nvSpPr>
          <p:cNvPr id="4" name="Rectangle 3"/>
          <p:cNvSpPr/>
          <p:nvPr/>
        </p:nvSpPr>
        <p:spPr>
          <a:xfrm>
            <a:off x="4572000" y="292608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0" y="5669280"/>
            <a:ext cx="4114800" cy="914400"/>
          </a:xfrm>
          <a:prstGeom prst="rect">
            <a:avLst/>
          </a:prstGeom>
          <a:noFill/>
        </p:spPr>
        <p:txBody>
          <a:bodyPr wrap="square">
            <a:spAutoFit/>
          </a:bodyPr>
          <a:lstStyle/>
          <a:p>
            <a:pPr algn="r">
              <a:defRPr sz="1600">
                <a:solidFill>
                  <a:srgbClr val="9DC3E6"/>
                </a:solidFill>
                <a:latin typeface="Segoe UI"/>
              </a:defRPr>
            </a:pPr>
            <a:r>
              <a:t>[Votre nom]  |  [Votre titre]</a:t>
            </a:r>
          </a:p>
          <a:p>
            <a:pPr algn="r">
              <a:defRPr sz="1600">
                <a:solidFill>
                  <a:srgbClr val="9DC3E6"/>
                </a:solidFill>
                <a:latin typeface="Segoe UI"/>
              </a:defRPr>
            </a:pPr>
            <a:r>
              <a:t>[courriel]@ledgerlink.ca  |  [telephone]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sp>
        <p:nvSpPr>
          <p:cNvPr id="2" name="TextBox 1"/>
          <p:cNvSpPr txBox="1"/>
          <p:nvPr/>
        </p:nvSpPr>
        <p:spPr>
          <a:xfrm>
            <a:off x="365760" y="228600"/>
            <a:ext cx="2286000" cy="365760"/>
          </a:xfrm>
          <a:prstGeom prst="rect">
            <a:avLst/>
          </a:prstGeom>
          <a:noFill/>
        </p:spPr>
        <p:txBody>
          <a:bodyPr wrap="none">
            <a:spAutoFit/>
          </a:bodyPr>
          <a:lstStyle/>
          <a:p>
            <a:r>
              <a:rPr sz="1400" b="1">
                <a:solidFill>
                  <a:srgbClr val="FFFFFF"/>
                </a:solidFill>
                <a:latin typeface="Segoe UI"/>
              </a:rPr>
              <a:t>LedgerLink</a:t>
            </a:r>
            <a:r>
              <a:rPr sz="1400" b="1">
                <a:solidFill>
                  <a:srgbClr val="FFD700"/>
                </a:solidFill>
                <a:latin typeface="Segoe UI"/>
              </a:rPr>
              <a:t> AI</a:t>
            </a:r>
          </a:p>
        </p:txBody>
      </p:sp>
      <p:sp>
        <p:nvSpPr>
          <p:cNvPr id="3" name="TextBox 2"/>
          <p:cNvSpPr txBox="1"/>
          <p:nvPr/>
        </p:nvSpPr>
        <p:spPr>
          <a:xfrm>
            <a:off x="640080" y="914400"/>
            <a:ext cx="10972800" cy="1097280"/>
          </a:xfrm>
          <a:prstGeom prst="rect">
            <a:avLst/>
          </a:prstGeom>
          <a:noFill/>
        </p:spPr>
        <p:txBody>
          <a:bodyPr wrap="square">
            <a:spAutoFit/>
          </a:bodyPr>
          <a:lstStyle/>
          <a:p>
            <a:pPr algn="l">
              <a:defRPr sz="3200" b="1">
                <a:solidFill>
                  <a:srgbClr val="FFFFFF"/>
                </a:solidFill>
                <a:latin typeface="Segoe UI"/>
              </a:defRPr>
            </a:pPr>
            <a:r>
              <a:t>"Combien d'heures par semaine passez-vous</a:t>
            </a:r>
            <a:br/>
            <a:r>
              <a:t>a saisir des donnees manuellement?"</a:t>
            </a:r>
          </a:p>
        </p:txBody>
      </p:sp>
      <p:sp>
        <p:nvSpPr>
          <p:cNvPr id="4" name="Rectangle 3"/>
          <p:cNvSpPr/>
          <p:nvPr/>
        </p:nvSpPr>
        <p:spPr>
          <a:xfrm>
            <a:off x="640080" y="2286000"/>
            <a:ext cx="1828800" cy="508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2926080"/>
            <a:ext cx="3291840" cy="109728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000" b="1">
                <a:solidFill>
                  <a:srgbClr val="FFD700"/>
                </a:solidFill>
                <a:latin typeface="Segoe UI"/>
              </a:defRPr>
            </a:pPr>
            <a:r>
              <a:t>40%</a:t>
            </a:r>
          </a:p>
        </p:txBody>
      </p:sp>
      <p:sp>
        <p:nvSpPr>
          <p:cNvPr id="6" name="TextBox 5"/>
          <p:cNvSpPr txBox="1"/>
          <p:nvPr/>
        </p:nvSpPr>
        <p:spPr>
          <a:xfrm>
            <a:off x="731520" y="4206240"/>
            <a:ext cx="3291840" cy="1371600"/>
          </a:xfrm>
          <a:prstGeom prst="rect">
            <a:avLst/>
          </a:prstGeom>
          <a:noFill/>
        </p:spPr>
        <p:txBody>
          <a:bodyPr wrap="square">
            <a:spAutoFit/>
          </a:bodyPr>
          <a:lstStyle/>
          <a:p>
            <a:pPr algn="ctr">
              <a:defRPr sz="2000">
                <a:solidFill>
                  <a:srgbClr val="FFFFFF"/>
                </a:solidFill>
                <a:latin typeface="Segoe UI"/>
              </a:defRPr>
            </a:pPr>
            <a:r>
              <a:t>du temps du personnel CPA</a:t>
            </a:r>
            <a:br/>
            <a:r>
              <a:t>est de la saisie manuelle</a:t>
            </a:r>
          </a:p>
        </p:txBody>
      </p:sp>
      <p:sp>
        <p:nvSpPr>
          <p:cNvPr id="7" name="Rounded Rectangle 6"/>
          <p:cNvSpPr/>
          <p:nvPr/>
        </p:nvSpPr>
        <p:spPr>
          <a:xfrm>
            <a:off x="4480559" y="2926080"/>
            <a:ext cx="3291840" cy="109728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000" b="1">
                <a:solidFill>
                  <a:srgbClr val="FFD700"/>
                </a:solidFill>
                <a:latin typeface="Segoe UI"/>
              </a:defRPr>
            </a:pPr>
            <a:r>
              <a:t>50-100</a:t>
            </a:r>
          </a:p>
        </p:txBody>
      </p:sp>
      <p:sp>
        <p:nvSpPr>
          <p:cNvPr id="8" name="TextBox 7"/>
          <p:cNvSpPr txBox="1"/>
          <p:nvPr/>
        </p:nvSpPr>
        <p:spPr>
          <a:xfrm>
            <a:off x="4480559" y="4206240"/>
            <a:ext cx="3291840" cy="1371600"/>
          </a:xfrm>
          <a:prstGeom prst="rect">
            <a:avLst/>
          </a:prstGeom>
          <a:noFill/>
        </p:spPr>
        <p:txBody>
          <a:bodyPr wrap="square">
            <a:spAutoFit/>
          </a:bodyPr>
          <a:lstStyle/>
          <a:p>
            <a:pPr algn="ctr">
              <a:defRPr sz="2000">
                <a:solidFill>
                  <a:srgbClr val="FFFFFF"/>
                </a:solidFill>
                <a:latin typeface="Segoe UI"/>
              </a:defRPr>
            </a:pPr>
            <a:r>
              <a:t>transactions par mois</a:t>
            </a:r>
            <a:br/>
            <a:r>
              <a:t>par client PME au Quebec</a:t>
            </a:r>
          </a:p>
        </p:txBody>
      </p:sp>
      <p:sp>
        <p:nvSpPr>
          <p:cNvPr id="9" name="Rounded Rectangle 8"/>
          <p:cNvSpPr/>
          <p:nvPr/>
        </p:nvSpPr>
        <p:spPr>
          <a:xfrm>
            <a:off x="8229600" y="2926080"/>
            <a:ext cx="3291840" cy="109728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000" b="1">
                <a:solidFill>
                  <a:srgbClr val="FFD700"/>
                </a:solidFill>
                <a:latin typeface="Segoe UI"/>
              </a:defRPr>
            </a:pPr>
            <a:r>
              <a:t>3 000$ - 6 000$</a:t>
            </a:r>
          </a:p>
        </p:txBody>
      </p:sp>
      <p:sp>
        <p:nvSpPr>
          <p:cNvPr id="10" name="TextBox 9"/>
          <p:cNvSpPr txBox="1"/>
          <p:nvPr/>
        </p:nvSpPr>
        <p:spPr>
          <a:xfrm>
            <a:off x="8229600" y="4206240"/>
            <a:ext cx="3291840" cy="1371600"/>
          </a:xfrm>
          <a:prstGeom prst="rect">
            <a:avLst/>
          </a:prstGeom>
          <a:noFill/>
        </p:spPr>
        <p:txBody>
          <a:bodyPr wrap="square">
            <a:spAutoFit/>
          </a:bodyPr>
          <a:lstStyle/>
          <a:p>
            <a:pPr algn="ctr">
              <a:defRPr sz="2000">
                <a:solidFill>
                  <a:srgbClr val="FFFFFF"/>
                </a:solidFill>
                <a:latin typeface="Segoe UI"/>
              </a:defRPr>
            </a:pPr>
            <a:r>
              <a:t>par client/mois en temps</a:t>
            </a:r>
            <a:br/>
            <a:r>
              <a:t>non facturable (a 150$/h)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sp>
        <p:nvSpPr>
          <p:cNvPr id="2" name="TextBox 1"/>
          <p:cNvSpPr txBox="1"/>
          <p:nvPr/>
        </p:nvSpPr>
        <p:spPr>
          <a:xfrm>
            <a:off x="365760" y="228600"/>
            <a:ext cx="2286000" cy="365760"/>
          </a:xfrm>
          <a:prstGeom prst="rect">
            <a:avLst/>
          </a:prstGeom>
          <a:noFill/>
        </p:spPr>
        <p:txBody>
          <a:bodyPr wrap="none">
            <a:spAutoFit/>
          </a:bodyPr>
          <a:lstStyle/>
          <a:p>
            <a:r>
              <a:rPr sz="1400" b="1">
                <a:solidFill>
                  <a:srgbClr val="FFFFFF"/>
                </a:solidFill>
                <a:latin typeface="Segoe UI"/>
              </a:rPr>
              <a:t>LedgerLink</a:t>
            </a:r>
            <a:r>
              <a:rPr sz="1400" b="1">
                <a:solidFill>
                  <a:srgbClr val="FFD700"/>
                </a:solidFill>
                <a:latin typeface="Segoe UI"/>
              </a:rPr>
              <a:t> AI</a:t>
            </a:r>
          </a:p>
        </p:txBody>
      </p:sp>
      <p:sp>
        <p:nvSpPr>
          <p:cNvPr id="3" name="TextBox 2"/>
          <p:cNvSpPr txBox="1"/>
          <p:nvPr/>
        </p:nvSpPr>
        <p:spPr>
          <a:xfrm>
            <a:off x="640080" y="914400"/>
            <a:ext cx="10972800" cy="1097280"/>
          </a:xfrm>
          <a:prstGeom prst="rect">
            <a:avLst/>
          </a:prstGeom>
          <a:noFill/>
        </p:spPr>
        <p:txBody>
          <a:bodyPr wrap="square">
            <a:spAutoFit/>
          </a:bodyPr>
          <a:lstStyle/>
          <a:p>
            <a:pPr algn="l">
              <a:defRPr sz="3200" b="1">
                <a:solidFill>
                  <a:srgbClr val="FFFFFF"/>
                </a:solidFill>
                <a:latin typeface="Segoe UI"/>
              </a:defRPr>
            </a:pPr>
            <a:r>
              <a:t>LedgerLink AI traite les documents automatiquement</a:t>
            </a:r>
          </a:p>
        </p:txBody>
      </p:sp>
      <p:sp>
        <p:nvSpPr>
          <p:cNvPr id="4" name="TextBox 3"/>
          <p:cNvSpPr txBox="1"/>
          <p:nvPr/>
        </p:nvSpPr>
        <p:spPr>
          <a:xfrm>
            <a:off x="640080" y="1645920"/>
            <a:ext cx="10972800" cy="731520"/>
          </a:xfrm>
          <a:prstGeom prst="rect">
            <a:avLst/>
          </a:prstGeom>
          <a:noFill/>
        </p:spPr>
        <p:txBody>
          <a:bodyPr wrap="square">
            <a:spAutoFit/>
          </a:bodyPr>
          <a:lstStyle/>
          <a:p>
            <a:pPr algn="l">
              <a:defRPr sz="2400">
                <a:solidFill>
                  <a:srgbClr val="9DC3E6"/>
                </a:solidFill>
                <a:latin typeface="Segoe UI"/>
              </a:defRPr>
            </a:pPr>
            <a:r>
              <a:t>Photos, courriels, WhatsApp --- extraction instantanee</a:t>
            </a:r>
          </a:p>
        </p:txBody>
      </p:sp>
      <p:sp>
        <p:nvSpPr>
          <p:cNvPr id="5" name="Rectangle 4"/>
          <p:cNvSpPr/>
          <p:nvPr/>
        </p:nvSpPr>
        <p:spPr>
          <a:xfrm>
            <a:off x="640080" y="2103120"/>
            <a:ext cx="1828800" cy="508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926080"/>
            <a:ext cx="2377440" cy="146304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FFFFF"/>
                </a:solidFill>
                <a:latin typeface="Segoe UI"/>
              </a:defRPr>
            </a:pPr>
            <a:r>
              <a:t>Photo / PDF</a:t>
            </a:r>
            <a:br/>
            <a:r>
              <a:t>Courriel</a:t>
            </a:r>
          </a:p>
        </p:txBody>
      </p:sp>
      <p:sp>
        <p:nvSpPr>
          <p:cNvPr id="7" name="Right Arrow 6"/>
          <p:cNvSpPr/>
          <p:nvPr/>
        </p:nvSpPr>
        <p:spPr>
          <a:xfrm>
            <a:off x="3108960" y="3383280"/>
            <a:ext cx="365760" cy="457200"/>
          </a:xfrm>
          <a:prstGeom prst="rightArrow">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74720" y="2926080"/>
            <a:ext cx="2377440" cy="1463040"/>
          </a:xfrm>
          <a:prstGeom prst="roundRect">
            <a:avLst/>
          </a:prstGeom>
          <a:solidFill>
            <a:srgbClr val="40609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FFFFF"/>
                </a:solidFill>
                <a:latin typeface="Segoe UI"/>
              </a:defRPr>
            </a:pPr>
            <a:r>
              <a:t>Extraction IA</a:t>
            </a:r>
            <a:br/>
            <a:r>
              <a:t>automatique</a:t>
            </a:r>
          </a:p>
        </p:txBody>
      </p:sp>
      <p:sp>
        <p:nvSpPr>
          <p:cNvPr id="9" name="Right Arrow 8"/>
          <p:cNvSpPr/>
          <p:nvPr/>
        </p:nvSpPr>
        <p:spPr>
          <a:xfrm>
            <a:off x="6035040" y="3383280"/>
            <a:ext cx="365760" cy="457200"/>
          </a:xfrm>
          <a:prstGeom prst="rightArrow">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0" y="2926080"/>
            <a:ext cx="2377440" cy="1463040"/>
          </a:xfrm>
          <a:prstGeom prst="roundRect">
            <a:avLst/>
          </a:prstGeom>
          <a:solidFill>
            <a:srgbClr val="40609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FFFFF"/>
                </a:solidFill>
                <a:latin typeface="Segoe UI"/>
              </a:defRPr>
            </a:pPr>
            <a:r>
              <a:t>Compte GL</a:t>
            </a:r>
            <a:br/>
            <a:r>
              <a:t>suggere</a:t>
            </a:r>
          </a:p>
        </p:txBody>
      </p:sp>
      <p:sp>
        <p:nvSpPr>
          <p:cNvPr id="11" name="Right Arrow 10"/>
          <p:cNvSpPr/>
          <p:nvPr/>
        </p:nvSpPr>
        <p:spPr>
          <a:xfrm>
            <a:off x="8961120" y="3383280"/>
            <a:ext cx="365760" cy="457200"/>
          </a:xfrm>
          <a:prstGeom prst="rightArrow">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326880" y="2926080"/>
            <a:ext cx="2377440" cy="1463040"/>
          </a:xfrm>
          <a:prstGeom prst="round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FFFFF"/>
                </a:solidFill>
                <a:latin typeface="Segoe UI"/>
              </a:defRPr>
            </a:pPr>
            <a:r>
              <a:t>Un clic pour</a:t>
            </a:r>
            <a:br/>
            <a:r>
              <a:t>approuver</a:t>
            </a:r>
          </a:p>
        </p:txBody>
      </p:sp>
      <p:sp>
        <p:nvSpPr>
          <p:cNvPr id="13" name="TextBox 12"/>
          <p:cNvSpPr txBox="1"/>
          <p:nvPr/>
        </p:nvSpPr>
        <p:spPr>
          <a:xfrm>
            <a:off x="640080" y="4846320"/>
            <a:ext cx="10515600" cy="3657600"/>
          </a:xfrm>
          <a:prstGeom prst="rect">
            <a:avLst/>
          </a:prstGeom>
          <a:noFill/>
        </p:spPr>
        <p:txBody>
          <a:bodyPr wrap="square">
            <a:spAutoFit/>
          </a:bodyPr>
          <a:lstStyle/>
          <a:p>
            <a:pPr>
              <a:spcAft>
                <a:spcPts val="800"/>
              </a:spcAft>
              <a:defRPr sz="2200" b="0">
                <a:solidFill>
                  <a:srgbClr val="9DC3E6"/>
                </a:solidFill>
                <a:latin typeface="Segoe UI"/>
              </a:defRPr>
            </a:pPr>
            <a:r>
              <a:t>Fournisseur  |  Montant  |  Date  |  Compte GL  |  TPS/TVQ  |  Approuver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sp>
        <p:nvSpPr>
          <p:cNvPr id="2" name="TextBox 1"/>
          <p:cNvSpPr txBox="1"/>
          <p:nvPr/>
        </p:nvSpPr>
        <p:spPr>
          <a:xfrm>
            <a:off x="365760" y="228600"/>
            <a:ext cx="2286000" cy="365760"/>
          </a:xfrm>
          <a:prstGeom prst="rect">
            <a:avLst/>
          </a:prstGeom>
          <a:noFill/>
        </p:spPr>
        <p:txBody>
          <a:bodyPr wrap="none">
            <a:spAutoFit/>
          </a:bodyPr>
          <a:lstStyle/>
          <a:p>
            <a:r>
              <a:rPr sz="1400" b="1">
                <a:solidFill>
                  <a:srgbClr val="FFFFFF"/>
                </a:solidFill>
                <a:latin typeface="Segoe UI"/>
              </a:rPr>
              <a:t>LedgerLink</a:t>
            </a:r>
            <a:r>
              <a:rPr sz="1400" b="1">
                <a:solidFill>
                  <a:srgbClr val="FFD700"/>
                </a:solidFill>
                <a:latin typeface="Segoe UI"/>
              </a:rPr>
              <a:t> AI</a:t>
            </a:r>
          </a:p>
        </p:txBody>
      </p:sp>
      <p:sp>
        <p:nvSpPr>
          <p:cNvPr id="3" name="TextBox 2"/>
          <p:cNvSpPr txBox="1"/>
          <p:nvPr/>
        </p:nvSpPr>
        <p:spPr>
          <a:xfrm>
            <a:off x="640080" y="914400"/>
            <a:ext cx="10972800" cy="1097280"/>
          </a:xfrm>
          <a:prstGeom prst="rect">
            <a:avLst/>
          </a:prstGeom>
          <a:noFill/>
        </p:spPr>
        <p:txBody>
          <a:bodyPr wrap="square">
            <a:spAutoFit/>
          </a:bodyPr>
          <a:lstStyle/>
          <a:p>
            <a:pPr algn="l">
              <a:defRPr sz="3200" b="1">
                <a:solidFill>
                  <a:srgbClr val="FFFFFF"/>
                </a:solidFill>
                <a:latin typeface="Segoe UI"/>
              </a:defRPr>
            </a:pPr>
            <a:r>
              <a:t>Trois couches. Zero approximation sur les taxes.</a:t>
            </a:r>
          </a:p>
        </p:txBody>
      </p:sp>
      <p:sp>
        <p:nvSpPr>
          <p:cNvPr id="4" name="Rectangle 3"/>
          <p:cNvSpPr/>
          <p:nvPr/>
        </p:nvSpPr>
        <p:spPr>
          <a:xfrm>
            <a:off x="640080" y="1691640"/>
            <a:ext cx="1828800" cy="508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10881360" cy="41148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COUCHE 1 --- REGLES DETERMINISTES (100% precision)</a:t>
            </a:r>
          </a:p>
        </p:txBody>
      </p:sp>
      <p:sp>
        <p:nvSpPr>
          <p:cNvPr id="6" name="TextBox 5"/>
          <p:cNvSpPr txBox="1"/>
          <p:nvPr/>
        </p:nvSpPr>
        <p:spPr>
          <a:xfrm>
            <a:off x="914400" y="2468880"/>
            <a:ext cx="10515600" cy="1005840"/>
          </a:xfrm>
          <a:prstGeom prst="rect">
            <a:avLst/>
          </a:prstGeom>
          <a:noFill/>
        </p:spPr>
        <p:txBody>
          <a:bodyPr wrap="square">
            <a:spAutoFit/>
          </a:bodyPr>
          <a:lstStyle/>
          <a:p>
            <a:pPr>
              <a:defRPr sz="1500">
                <a:solidFill>
                  <a:srgbClr val="9DC3E6"/>
                </a:solidFill>
                <a:latin typeface="Segoe UI"/>
              </a:defRPr>
            </a:pPr>
            <a:r>
              <a:t>TPS/TVQ calcules mathematiquement --- jamais une estimation IA</a:t>
            </a:r>
          </a:p>
          <a:p>
            <a:pPr>
              <a:defRPr sz="1500">
                <a:solidFill>
                  <a:srgbClr val="9DC3E6"/>
                </a:solidFill>
                <a:latin typeface="Segoe UI"/>
              </a:defRPr>
            </a:pPr>
            <a:r>
              <a:t>13 regles anti-fraude --- seuils stricts, pas d'hallucination</a:t>
            </a:r>
          </a:p>
          <a:p>
            <a:pPr>
              <a:defRPr sz="1500">
                <a:solidFill>
                  <a:srgbClr val="9DC3E6"/>
                </a:solidFill>
                <a:latin typeface="Segoe UI"/>
              </a:defRPr>
            </a:pPr>
            <a:r>
              <a:t>Moteur de substance economique --- actifs, passifs, charges</a:t>
            </a:r>
          </a:p>
        </p:txBody>
      </p:sp>
      <p:sp>
        <p:nvSpPr>
          <p:cNvPr id="7" name="Rounded Rectangle 6"/>
          <p:cNvSpPr/>
          <p:nvPr/>
        </p:nvSpPr>
        <p:spPr>
          <a:xfrm>
            <a:off x="640080" y="3566160"/>
            <a:ext cx="10881360" cy="411480"/>
          </a:xfrm>
          <a:prstGeom prst="roundRect">
            <a:avLst/>
          </a:prstGeom>
          <a:solidFill>
            <a:srgbClr val="406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COUCHE 2 --- INTELLIGENCE ARTIFICIELLE (suggestions)</a:t>
            </a:r>
          </a:p>
        </p:txBody>
      </p:sp>
      <p:sp>
        <p:nvSpPr>
          <p:cNvPr id="8" name="TextBox 7"/>
          <p:cNvSpPr txBox="1"/>
          <p:nvPr/>
        </p:nvSpPr>
        <p:spPr>
          <a:xfrm>
            <a:off x="914400" y="4023360"/>
            <a:ext cx="10515600" cy="1005840"/>
          </a:xfrm>
          <a:prstGeom prst="rect">
            <a:avLst/>
          </a:prstGeom>
          <a:noFill/>
        </p:spPr>
        <p:txBody>
          <a:bodyPr wrap="square">
            <a:spAutoFit/>
          </a:bodyPr>
          <a:lstStyle/>
          <a:p>
            <a:pPr>
              <a:defRPr sz="1500">
                <a:solidFill>
                  <a:srgbClr val="9DC3E6"/>
                </a:solidFill>
                <a:latin typeface="Segoe UI"/>
              </a:defRPr>
            </a:pPr>
            <a:r>
              <a:t>Extraction de documents (OCR + Vision)</a:t>
            </a:r>
          </a:p>
          <a:p>
            <a:pPr>
              <a:defRPr sz="1500">
                <a:solidFill>
                  <a:srgbClr val="9DC3E6"/>
                </a:solidFill>
                <a:latin typeface="Segoe UI"/>
              </a:defRPr>
            </a:pPr>
            <a:r>
              <a:t>Suggestion de comptes GL | Redaction de messages bilingues</a:t>
            </a:r>
          </a:p>
          <a:p>
            <a:pPr>
              <a:defRPr sz="1500">
                <a:solidFill>
                  <a:srgbClr val="9DC3E6"/>
                </a:solidFill>
                <a:latin typeface="Segoe UI"/>
              </a:defRPr>
            </a:pPr>
            <a:r>
              <a:t>Routeur IA : DeepSeek (routine) / Claude (complexe)</a:t>
            </a:r>
          </a:p>
        </p:txBody>
      </p:sp>
      <p:sp>
        <p:nvSpPr>
          <p:cNvPr id="9" name="Rounded Rectangle 8"/>
          <p:cNvSpPr/>
          <p:nvPr/>
        </p:nvSpPr>
        <p:spPr>
          <a:xfrm>
            <a:off x="640080" y="5029200"/>
            <a:ext cx="10881360" cy="411480"/>
          </a:xfrm>
          <a:prstGeom prst="round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COUCHE 3 --- CONTROLE HUMAIN (autorite finale)</a:t>
            </a:r>
          </a:p>
        </p:txBody>
      </p:sp>
      <p:sp>
        <p:nvSpPr>
          <p:cNvPr id="10" name="TextBox 9"/>
          <p:cNvSpPr txBox="1"/>
          <p:nvPr/>
        </p:nvSpPr>
        <p:spPr>
          <a:xfrm>
            <a:off x="914400" y="5486400"/>
            <a:ext cx="10515600" cy="1005840"/>
          </a:xfrm>
          <a:prstGeom prst="rect">
            <a:avLst/>
          </a:prstGeom>
          <a:noFill/>
        </p:spPr>
        <p:txBody>
          <a:bodyPr wrap="square">
            <a:spAutoFit/>
          </a:bodyPr>
          <a:lstStyle/>
          <a:p>
            <a:pPr>
              <a:defRPr sz="1500">
                <a:solidFill>
                  <a:srgbClr val="9DC3E6"/>
                </a:solidFill>
                <a:latin typeface="Segoe UI"/>
              </a:defRPr>
            </a:pPr>
            <a:r>
              <a:t>Votre equipe approuve chaque transaction</a:t>
            </a:r>
          </a:p>
          <a:p>
            <a:pPr>
              <a:defRPr sz="1500">
                <a:solidFill>
                  <a:srgbClr val="9DC3E6"/>
                </a:solidFill>
                <a:latin typeface="Segoe UI"/>
              </a:defRPr>
            </a:pPr>
            <a:r>
              <a:t>File d'attente de revision avec niveaux de confiance</a:t>
            </a:r>
          </a:p>
          <a:p>
            <a:pPr>
              <a:defRPr sz="1500">
                <a:solidFill>
                  <a:srgbClr val="9DC3E6"/>
                </a:solidFill>
                <a:latin typeface="Segoe UI"/>
              </a:defRPr>
            </a:pPr>
            <a:r>
              <a:t>Historique d'audit complet (qui, quoi, quand)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sp>
        <p:nvSpPr>
          <p:cNvPr id="2" name="TextBox 1"/>
          <p:cNvSpPr txBox="1"/>
          <p:nvPr/>
        </p:nvSpPr>
        <p:spPr>
          <a:xfrm>
            <a:off x="365760" y="228600"/>
            <a:ext cx="2286000" cy="365760"/>
          </a:xfrm>
          <a:prstGeom prst="rect">
            <a:avLst/>
          </a:prstGeom>
          <a:noFill/>
        </p:spPr>
        <p:txBody>
          <a:bodyPr wrap="none">
            <a:spAutoFit/>
          </a:bodyPr>
          <a:lstStyle/>
          <a:p>
            <a:r>
              <a:rPr sz="1400" b="1">
                <a:solidFill>
                  <a:srgbClr val="FFFFFF"/>
                </a:solidFill>
                <a:latin typeface="Segoe UI"/>
              </a:rPr>
              <a:t>LedgerLink</a:t>
            </a:r>
            <a:r>
              <a:rPr sz="1400" b="1">
                <a:solidFill>
                  <a:srgbClr val="FFD700"/>
                </a:solidFill>
                <a:latin typeface="Segoe UI"/>
              </a:rPr>
              <a:t> AI</a:t>
            </a:r>
          </a:p>
        </p:txBody>
      </p:sp>
      <p:sp>
        <p:nvSpPr>
          <p:cNvPr id="3" name="TextBox 2"/>
          <p:cNvSpPr txBox="1"/>
          <p:nvPr/>
        </p:nvSpPr>
        <p:spPr>
          <a:xfrm>
            <a:off x="640080" y="914400"/>
            <a:ext cx="10972800" cy="1097280"/>
          </a:xfrm>
          <a:prstGeom prst="rect">
            <a:avLst/>
          </a:prstGeom>
          <a:noFill/>
        </p:spPr>
        <p:txBody>
          <a:bodyPr wrap="square">
            <a:spAutoFit/>
          </a:bodyPr>
          <a:lstStyle/>
          <a:p>
            <a:pPr algn="l">
              <a:defRPr sz="3000" b="1">
                <a:solidFill>
                  <a:srgbClr val="FFFFFF"/>
                </a:solidFill>
                <a:latin typeface="Segoe UI"/>
              </a:defRPr>
            </a:pPr>
            <a:r>
              <a:t>Le seul logiciel construit specifiquement</a:t>
            </a:r>
            <a:br/>
            <a:r>
              <a:t>pour la fiscalite quebecoise</a:t>
            </a:r>
          </a:p>
        </p:txBody>
      </p:sp>
      <p:sp>
        <p:nvSpPr>
          <p:cNvPr id="4" name="Rectangle 3"/>
          <p:cNvSpPr/>
          <p:nvPr/>
        </p:nvSpPr>
        <p:spPr>
          <a:xfrm>
            <a:off x="640080" y="2011680"/>
            <a:ext cx="1828800" cy="508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468880"/>
            <a:ext cx="5303520" cy="640080"/>
          </a:xfrm>
          <a:prstGeom prst="rect">
            <a:avLst/>
          </a:prstGeom>
          <a:noFill/>
        </p:spPr>
        <p:txBody>
          <a:bodyPr wrap="square">
            <a:spAutoFit/>
          </a:bodyPr>
          <a:lstStyle/>
          <a:p>
            <a:r>
              <a:rPr sz="1800" b="1">
                <a:solidFill>
                  <a:srgbClr val="00B050"/>
                </a:solidFill>
                <a:latin typeface="Segoe UI"/>
              </a:rPr>
              <a:t>  </a:t>
            </a:r>
            <a:r>
              <a:rPr sz="1700">
                <a:solidFill>
                  <a:srgbClr val="FFFFFF"/>
                </a:solidFill>
                <a:latin typeface="Segoe UI"/>
              </a:rPr>
              <a:t>TPS/TVQ calcul parallele --- jamais en cascade</a:t>
            </a:r>
          </a:p>
        </p:txBody>
      </p:sp>
      <p:sp>
        <p:nvSpPr>
          <p:cNvPr id="6" name="TextBox 5"/>
          <p:cNvSpPr txBox="1"/>
          <p:nvPr/>
        </p:nvSpPr>
        <p:spPr>
          <a:xfrm>
            <a:off x="640080" y="3200400"/>
            <a:ext cx="5303520" cy="640080"/>
          </a:xfrm>
          <a:prstGeom prst="rect">
            <a:avLst/>
          </a:prstGeom>
          <a:noFill/>
        </p:spPr>
        <p:txBody>
          <a:bodyPr wrap="square">
            <a:spAutoFit/>
          </a:bodyPr>
          <a:lstStyle/>
          <a:p>
            <a:r>
              <a:rPr sz="1800" b="1">
                <a:solidFill>
                  <a:srgbClr val="00B050"/>
                </a:solidFill>
                <a:latin typeface="Segoe UI"/>
              </a:rPr>
              <a:t>  </a:t>
            </a:r>
            <a:r>
              <a:rPr sz="1700">
                <a:solidFill>
                  <a:srgbClr val="FFFFFF"/>
                </a:solidFill>
                <a:latin typeface="Segoe UI"/>
              </a:rPr>
              <a:t>Pre-remplissage FPZ-500 Revenu Quebec</a:t>
            </a:r>
          </a:p>
        </p:txBody>
      </p:sp>
      <p:sp>
        <p:nvSpPr>
          <p:cNvPr id="7" name="TextBox 6"/>
          <p:cNvSpPr txBox="1"/>
          <p:nvPr/>
        </p:nvSpPr>
        <p:spPr>
          <a:xfrm>
            <a:off x="640080" y="3931920"/>
            <a:ext cx="5303520" cy="640080"/>
          </a:xfrm>
          <a:prstGeom prst="rect">
            <a:avLst/>
          </a:prstGeom>
          <a:noFill/>
        </p:spPr>
        <p:txBody>
          <a:bodyPr wrap="square">
            <a:spAutoFit/>
          </a:bodyPr>
          <a:lstStyle/>
          <a:p>
            <a:r>
              <a:rPr sz="1800" b="1">
                <a:solidFill>
                  <a:srgbClr val="00B050"/>
                </a:solidFill>
                <a:latin typeface="Segoe UI"/>
              </a:rPr>
              <a:t>  </a:t>
            </a:r>
            <a:r>
              <a:rPr sz="1700">
                <a:solidFill>
                  <a:srgbClr val="FFFFFF"/>
                </a:solidFill>
                <a:latin typeface="Segoe UI"/>
              </a:rPr>
              <a:t>Methode rapide configurable par client</a:t>
            </a:r>
          </a:p>
        </p:txBody>
      </p:sp>
      <p:sp>
        <p:nvSpPr>
          <p:cNvPr id="8" name="TextBox 7"/>
          <p:cNvSpPr txBox="1"/>
          <p:nvPr/>
        </p:nvSpPr>
        <p:spPr>
          <a:xfrm>
            <a:off x="640080" y="4663440"/>
            <a:ext cx="5303520" cy="640080"/>
          </a:xfrm>
          <a:prstGeom prst="rect">
            <a:avLst/>
          </a:prstGeom>
          <a:noFill/>
        </p:spPr>
        <p:txBody>
          <a:bodyPr wrap="square">
            <a:spAutoFit/>
          </a:bodyPr>
          <a:lstStyle/>
          <a:p>
            <a:r>
              <a:rPr sz="1800" b="1">
                <a:solidFill>
                  <a:srgbClr val="00B050"/>
                </a:solidFill>
                <a:latin typeface="Segoe UI"/>
              </a:rPr>
              <a:t>  </a:t>
            </a:r>
            <a:r>
              <a:rPr sz="1700">
                <a:solidFill>
                  <a:srgbClr val="FFFFFF"/>
                </a:solidFill>
                <a:latin typeface="Segoe UI"/>
              </a:rPr>
              <a:t>Calendrier des echeances TPS/TVQ</a:t>
            </a:r>
          </a:p>
        </p:txBody>
      </p:sp>
      <p:sp>
        <p:nvSpPr>
          <p:cNvPr id="9" name="TextBox 8"/>
          <p:cNvSpPr txBox="1"/>
          <p:nvPr/>
        </p:nvSpPr>
        <p:spPr>
          <a:xfrm>
            <a:off x="640080" y="5394960"/>
            <a:ext cx="5303520" cy="640080"/>
          </a:xfrm>
          <a:prstGeom prst="rect">
            <a:avLst/>
          </a:prstGeom>
          <a:noFill/>
        </p:spPr>
        <p:txBody>
          <a:bodyPr wrap="square">
            <a:spAutoFit/>
          </a:bodyPr>
          <a:lstStyle/>
          <a:p>
            <a:r>
              <a:rPr sz="1800" b="1">
                <a:solidFill>
                  <a:srgbClr val="00B050"/>
                </a:solidFill>
                <a:latin typeface="Segoe UI"/>
              </a:rPr>
              <a:t>  </a:t>
            </a:r>
            <a:r>
              <a:rPr sz="1700">
                <a:solidFill>
                  <a:srgbClr val="FFFFFF"/>
                </a:solidFill>
                <a:latin typeface="Segoe UI"/>
              </a:rPr>
              <a:t>Plan comptable general quebecois (196 comptes)</a:t>
            </a:r>
          </a:p>
        </p:txBody>
      </p:sp>
      <p:sp>
        <p:nvSpPr>
          <p:cNvPr id="10" name="TextBox 9"/>
          <p:cNvSpPr txBox="1"/>
          <p:nvPr/>
        </p:nvSpPr>
        <p:spPr>
          <a:xfrm>
            <a:off x="6309360" y="2468880"/>
            <a:ext cx="5303520" cy="640080"/>
          </a:xfrm>
          <a:prstGeom prst="rect">
            <a:avLst/>
          </a:prstGeom>
          <a:noFill/>
        </p:spPr>
        <p:txBody>
          <a:bodyPr wrap="square">
            <a:spAutoFit/>
          </a:bodyPr>
          <a:lstStyle/>
          <a:p>
            <a:r>
              <a:rPr sz="1800" b="1">
                <a:solidFill>
                  <a:srgbClr val="00B050"/>
                </a:solidFill>
                <a:latin typeface="Segoe UI"/>
              </a:rPr>
              <a:t>  </a:t>
            </a:r>
            <a:r>
              <a:rPr sz="1700">
                <a:solidFill>
                  <a:srgbClr val="FFFFFF"/>
                </a:solidFill>
                <a:latin typeface="Segoe UI"/>
              </a:rPr>
              <a:t>Bilingue FR/EN --- 100% des chaines traduites</a:t>
            </a:r>
          </a:p>
        </p:txBody>
      </p:sp>
      <p:sp>
        <p:nvSpPr>
          <p:cNvPr id="11" name="TextBox 10"/>
          <p:cNvSpPr txBox="1"/>
          <p:nvPr/>
        </p:nvSpPr>
        <p:spPr>
          <a:xfrm>
            <a:off x="6309360" y="3200400"/>
            <a:ext cx="5303520" cy="640080"/>
          </a:xfrm>
          <a:prstGeom prst="rect">
            <a:avLst/>
          </a:prstGeom>
          <a:noFill/>
        </p:spPr>
        <p:txBody>
          <a:bodyPr wrap="square">
            <a:spAutoFit/>
          </a:bodyPr>
          <a:lstStyle/>
          <a:p>
            <a:r>
              <a:rPr sz="1800" b="1">
                <a:solidFill>
                  <a:srgbClr val="00B050"/>
                </a:solidFill>
                <a:latin typeface="Segoe UI"/>
              </a:rPr>
              <a:t>  </a:t>
            </a:r>
            <a:r>
              <a:rPr sz="1700">
                <a:solidFill>
                  <a:srgbClr val="FFFFFF"/>
                </a:solidFill>
                <a:latin typeface="Segoe UI"/>
              </a:rPr>
              <a:t>Loi 25 --- donnees sur votre serveur, jamais dans le cloud</a:t>
            </a:r>
          </a:p>
        </p:txBody>
      </p:sp>
      <p:sp>
        <p:nvSpPr>
          <p:cNvPr id="12" name="TextBox 11"/>
          <p:cNvSpPr txBox="1"/>
          <p:nvPr/>
        </p:nvSpPr>
        <p:spPr>
          <a:xfrm>
            <a:off x="6309360" y="3931920"/>
            <a:ext cx="5303520" cy="640080"/>
          </a:xfrm>
          <a:prstGeom prst="rect">
            <a:avLst/>
          </a:prstGeom>
          <a:noFill/>
        </p:spPr>
        <p:txBody>
          <a:bodyPr wrap="square">
            <a:spAutoFit/>
          </a:bodyPr>
          <a:lstStyle/>
          <a:p>
            <a:r>
              <a:rPr sz="1800" b="1">
                <a:solidFill>
                  <a:srgbClr val="00B050"/>
                </a:solidFill>
                <a:latin typeface="Segoe UI"/>
              </a:rPr>
              <a:t>  </a:t>
            </a:r>
            <a:r>
              <a:rPr sz="1700">
                <a:solidFill>
                  <a:srgbClr val="FFFFFF"/>
                </a:solidFill>
                <a:latin typeface="Segoe UI"/>
              </a:rPr>
              <a:t>Assurance provinciale --- charge 9% non recuperable</a:t>
            </a:r>
          </a:p>
        </p:txBody>
      </p:sp>
      <p:sp>
        <p:nvSpPr>
          <p:cNvPr id="13" name="TextBox 12"/>
          <p:cNvSpPr txBox="1"/>
          <p:nvPr/>
        </p:nvSpPr>
        <p:spPr>
          <a:xfrm>
            <a:off x="6309360" y="4663440"/>
            <a:ext cx="5303520" cy="640080"/>
          </a:xfrm>
          <a:prstGeom prst="rect">
            <a:avLst/>
          </a:prstGeom>
          <a:noFill/>
        </p:spPr>
        <p:txBody>
          <a:bodyPr wrap="square">
            <a:spAutoFit/>
          </a:bodyPr>
          <a:lstStyle/>
          <a:p>
            <a:r>
              <a:rPr sz="1800" b="1">
                <a:solidFill>
                  <a:srgbClr val="00B050"/>
                </a:solidFill>
                <a:latin typeface="Segoe UI"/>
              </a:rPr>
              <a:t>  </a:t>
            </a:r>
            <a:r>
              <a:rPr sz="1700">
                <a:solidFill>
                  <a:srgbClr val="FFFFFF"/>
                </a:solidFill>
                <a:latin typeface="Segoe UI"/>
              </a:rPr>
              <a:t>Repas et divertissement --- recuperation TPS/TVQ a 50%</a:t>
            </a:r>
          </a:p>
        </p:txBody>
      </p:sp>
      <p:sp>
        <p:nvSpPr>
          <p:cNvPr id="14" name="TextBox 13"/>
          <p:cNvSpPr txBox="1"/>
          <p:nvPr/>
        </p:nvSpPr>
        <p:spPr>
          <a:xfrm>
            <a:off x="6309360" y="5394960"/>
            <a:ext cx="5303520" cy="640080"/>
          </a:xfrm>
          <a:prstGeom prst="rect">
            <a:avLst/>
          </a:prstGeom>
          <a:noFill/>
        </p:spPr>
        <p:txBody>
          <a:bodyPr wrap="square">
            <a:spAutoFit/>
          </a:bodyPr>
          <a:lstStyle/>
          <a:p>
            <a:r>
              <a:rPr sz="1800" b="1">
                <a:solidFill>
                  <a:srgbClr val="00B050"/>
                </a:solidFill>
                <a:latin typeface="Segoe UI"/>
              </a:rPr>
              <a:t>  </a:t>
            </a:r>
            <a:r>
              <a:rPr sz="1700">
                <a:solidFill>
                  <a:srgbClr val="FFFFFF"/>
                </a:solidFill>
                <a:latin typeface="Segoe UI"/>
              </a:rPr>
              <a:t>CNESST taux de cotisation | FSS 6 paliers | RL-1/T4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sp>
        <p:nvSpPr>
          <p:cNvPr id="2" name="TextBox 1"/>
          <p:cNvSpPr txBox="1"/>
          <p:nvPr/>
        </p:nvSpPr>
        <p:spPr>
          <a:xfrm>
            <a:off x="365760" y="228600"/>
            <a:ext cx="2286000" cy="365760"/>
          </a:xfrm>
          <a:prstGeom prst="rect">
            <a:avLst/>
          </a:prstGeom>
          <a:noFill/>
        </p:spPr>
        <p:txBody>
          <a:bodyPr wrap="none">
            <a:spAutoFit/>
          </a:bodyPr>
          <a:lstStyle/>
          <a:p>
            <a:r>
              <a:rPr sz="1400" b="1">
                <a:solidFill>
                  <a:srgbClr val="FFFFFF"/>
                </a:solidFill>
                <a:latin typeface="Segoe UI"/>
              </a:rPr>
              <a:t>LedgerLink</a:t>
            </a:r>
            <a:r>
              <a:rPr sz="1400" b="1">
                <a:solidFill>
                  <a:srgbClr val="FFD700"/>
                </a:solidFill>
                <a:latin typeface="Segoe UI"/>
              </a:rPr>
              <a:t> AI</a:t>
            </a:r>
          </a:p>
        </p:txBody>
      </p:sp>
      <p:sp>
        <p:nvSpPr>
          <p:cNvPr id="3" name="TextBox 2"/>
          <p:cNvSpPr txBox="1"/>
          <p:nvPr/>
        </p:nvSpPr>
        <p:spPr>
          <a:xfrm>
            <a:off x="640080" y="914400"/>
            <a:ext cx="10972800" cy="1097280"/>
          </a:xfrm>
          <a:prstGeom prst="rect">
            <a:avLst/>
          </a:prstGeom>
          <a:noFill/>
        </p:spPr>
        <p:txBody>
          <a:bodyPr wrap="square">
            <a:spAutoFit/>
          </a:bodyPr>
          <a:lstStyle/>
          <a:p>
            <a:pPr algn="l">
              <a:defRPr sz="3200" b="1">
                <a:solidFill>
                  <a:srgbClr val="FFFFFF"/>
                </a:solidFill>
                <a:latin typeface="Segoe UI"/>
              </a:defRPr>
            </a:pPr>
            <a:r>
              <a:t>Vos donnees clients ne quittent jamais vos locaux</a:t>
            </a:r>
          </a:p>
        </p:txBody>
      </p:sp>
      <p:sp>
        <p:nvSpPr>
          <p:cNvPr id="4" name="Rectangle 3"/>
          <p:cNvSpPr/>
          <p:nvPr/>
        </p:nvSpPr>
        <p:spPr>
          <a:xfrm>
            <a:off x="640080" y="1691640"/>
            <a:ext cx="1828800" cy="508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2194560"/>
          <a:ext cx="10881360" cy="3840480"/>
        </p:xfrm>
        <a:graphic>
          <a:graphicData uri="http://schemas.openxmlformats.org/drawingml/2006/table">
            <a:tbl>
              <a:tblPr firstRow="1" bandRow="1">
                <a:tableStyleId>{5C22544A-7EE6-4342-B048-85BDC9FD1C3A}</a:tableStyleId>
              </a:tblPr>
              <a:tblGrid>
                <a:gridCol w="3627120"/>
                <a:gridCol w="3627120"/>
                <a:gridCol w="3627120"/>
              </a:tblGrid>
              <a:tr h="548640">
                <a:tc>
                  <a:txBody>
                    <a:bodyPr/>
                    <a:lstStyle/>
                    <a:p>
                      <a:pPr>
                        <a:defRPr sz="1600" b="1">
                          <a:solidFill>
                            <a:srgbClr val="FFFFFF"/>
                          </a:solidFill>
                          <a:latin typeface="Segoe UI"/>
                        </a:defRPr>
                      </a:pPr>
                    </a:p>
                  </a:txBody>
                  <a:tcPr>
                    <a:solidFill>
                      <a:srgbClr val="102040"/>
                    </a:solidFill>
                  </a:tcPr>
                </a:tc>
                <a:tc>
                  <a:txBody>
                    <a:bodyPr/>
                    <a:lstStyle/>
                    <a:p>
                      <a:pPr>
                        <a:defRPr sz="1600" b="1">
                          <a:solidFill>
                            <a:srgbClr val="FFFFFF"/>
                          </a:solidFill>
                          <a:latin typeface="Segoe UI"/>
                        </a:defRPr>
                      </a:pPr>
                      <a:r>
                        <a:t>Cloud (TaxDome/Karbon)</a:t>
                      </a:r>
                    </a:p>
                  </a:txBody>
                  <a:tcPr>
                    <a:solidFill>
                      <a:srgbClr val="102040"/>
                    </a:solidFill>
                  </a:tcPr>
                </a:tc>
                <a:tc>
                  <a:txBody>
                    <a:bodyPr/>
                    <a:lstStyle/>
                    <a:p>
                      <a:pPr>
                        <a:defRPr sz="1600" b="1">
                          <a:solidFill>
                            <a:srgbClr val="FFFFFF"/>
                          </a:solidFill>
                          <a:latin typeface="Segoe UI"/>
                        </a:defRPr>
                      </a:pPr>
                      <a:r>
                        <a:t>LedgerLink</a:t>
                      </a:r>
                    </a:p>
                  </a:txBody>
                  <a:tcPr>
                    <a:solidFill>
                      <a:srgbClr val="102040"/>
                    </a:solidFill>
                  </a:tcPr>
                </a:tc>
              </a:tr>
              <a:tr h="548640">
                <a:tc>
                  <a:txBody>
                    <a:bodyPr/>
                    <a:lstStyle/>
                    <a:p>
                      <a:pPr>
                        <a:defRPr sz="1500">
                          <a:solidFill>
                            <a:srgbClr val="FFFFFF"/>
                          </a:solidFill>
                          <a:latin typeface="Segoe UI"/>
                        </a:defRPr>
                      </a:pPr>
                      <a:r>
                        <a:t>Ou sont les donnees?</a:t>
                      </a:r>
                    </a:p>
                  </a:txBody>
                  <a:tcPr>
                    <a:solidFill>
                      <a:srgbClr val="182C50"/>
                    </a:solidFill>
                  </a:tcPr>
                </a:tc>
                <a:tc>
                  <a:txBody>
                    <a:bodyPr/>
                    <a:lstStyle/>
                    <a:p>
                      <a:pPr>
                        <a:defRPr sz="1500">
                          <a:solidFill>
                            <a:srgbClr val="ED7D31"/>
                          </a:solidFill>
                          <a:latin typeface="Segoe UI"/>
                        </a:defRPr>
                      </a:pPr>
                      <a:r>
                        <a:t>Serveurs AWS aux Etats-Unis</a:t>
                      </a:r>
                    </a:p>
                  </a:txBody>
                  <a:tcPr>
                    <a:solidFill>
                      <a:srgbClr val="182C50"/>
                    </a:solidFill>
                  </a:tcPr>
                </a:tc>
                <a:tc>
                  <a:txBody>
                    <a:bodyPr/>
                    <a:lstStyle/>
                    <a:p>
                      <a:pPr>
                        <a:defRPr sz="1500" b="1">
                          <a:solidFill>
                            <a:srgbClr val="00B050"/>
                          </a:solidFill>
                          <a:latin typeface="Segoe UI"/>
                        </a:defRPr>
                      </a:pPr>
                      <a:r>
                        <a:t>Votre serveur, dans votre bureau</a:t>
                      </a:r>
                    </a:p>
                  </a:txBody>
                  <a:tcPr>
                    <a:solidFill>
                      <a:srgbClr val="182C50"/>
                    </a:solidFill>
                  </a:tcPr>
                </a:tc>
              </a:tr>
              <a:tr h="548640">
                <a:tc>
                  <a:txBody>
                    <a:bodyPr/>
                    <a:lstStyle/>
                    <a:p>
                      <a:pPr>
                        <a:defRPr sz="1500">
                          <a:solidFill>
                            <a:srgbClr val="FFFFFF"/>
                          </a:solidFill>
                          <a:latin typeface="Segoe UI"/>
                        </a:defRPr>
                      </a:pPr>
                      <a:r>
                        <a:t>Qui y a acces?</a:t>
                      </a:r>
                    </a:p>
                  </a:txBody>
                  <a:tcPr>
                    <a:solidFill>
                      <a:srgbClr val="1F3864"/>
                    </a:solidFill>
                  </a:tcPr>
                </a:tc>
                <a:tc>
                  <a:txBody>
                    <a:bodyPr/>
                    <a:lstStyle/>
                    <a:p>
                      <a:pPr>
                        <a:defRPr sz="1500">
                          <a:solidFill>
                            <a:srgbClr val="ED7D31"/>
                          </a:solidFill>
                          <a:latin typeface="Segoe UI"/>
                        </a:defRPr>
                      </a:pPr>
                      <a:r>
                        <a:t>L'editeur du logiciel</a:t>
                      </a:r>
                    </a:p>
                  </a:txBody>
                  <a:tcPr>
                    <a:solidFill>
                      <a:srgbClr val="1F3864"/>
                    </a:solidFill>
                  </a:tcPr>
                </a:tc>
                <a:tc>
                  <a:txBody>
                    <a:bodyPr/>
                    <a:lstStyle/>
                    <a:p>
                      <a:pPr>
                        <a:defRPr sz="1500" b="1">
                          <a:solidFill>
                            <a:srgbClr val="00B050"/>
                          </a:solidFill>
                          <a:latin typeface="Segoe UI"/>
                        </a:defRPr>
                      </a:pPr>
                      <a:r>
                        <a:t>Vous seul</a:t>
                      </a:r>
                    </a:p>
                  </a:txBody>
                  <a:tcPr>
                    <a:solidFill>
                      <a:srgbClr val="1F3864"/>
                    </a:solidFill>
                  </a:tcPr>
                </a:tc>
              </a:tr>
              <a:tr h="548640">
                <a:tc>
                  <a:txBody>
                    <a:bodyPr/>
                    <a:lstStyle/>
                    <a:p>
                      <a:pPr>
                        <a:defRPr sz="1500">
                          <a:solidFill>
                            <a:srgbClr val="FFFFFF"/>
                          </a:solidFill>
                          <a:latin typeface="Segoe UI"/>
                        </a:defRPr>
                      </a:pPr>
                      <a:r>
                        <a:t>Loi 25 conforme?</a:t>
                      </a:r>
                    </a:p>
                  </a:txBody>
                  <a:tcPr>
                    <a:solidFill>
                      <a:srgbClr val="182C50"/>
                    </a:solidFill>
                  </a:tcPr>
                </a:tc>
                <a:tc>
                  <a:txBody>
                    <a:bodyPr/>
                    <a:lstStyle/>
                    <a:p>
                      <a:pPr>
                        <a:defRPr sz="1500">
                          <a:solidFill>
                            <a:srgbClr val="ED7D31"/>
                          </a:solidFill>
                          <a:latin typeface="Segoe UI"/>
                        </a:defRPr>
                      </a:pPr>
                      <a:r>
                        <a:t>Risque eleve (transfert transfrontalier)</a:t>
                      </a:r>
                    </a:p>
                  </a:txBody>
                  <a:tcPr>
                    <a:solidFill>
                      <a:srgbClr val="182C50"/>
                    </a:solidFill>
                  </a:tcPr>
                </a:tc>
                <a:tc>
                  <a:txBody>
                    <a:bodyPr/>
                    <a:lstStyle/>
                    <a:p>
                      <a:pPr>
                        <a:defRPr sz="1500" b="1">
                          <a:solidFill>
                            <a:srgbClr val="00B050"/>
                          </a:solidFill>
                          <a:latin typeface="Segoe UI"/>
                        </a:defRPr>
                      </a:pPr>
                      <a:r>
                        <a:t>Oui --- donnees locales</a:t>
                      </a:r>
                    </a:p>
                  </a:txBody>
                  <a:tcPr>
                    <a:solidFill>
                      <a:srgbClr val="182C50"/>
                    </a:solidFill>
                  </a:tcPr>
                </a:tc>
              </a:tr>
              <a:tr h="548640">
                <a:tc>
                  <a:txBody>
                    <a:bodyPr/>
                    <a:lstStyle/>
                    <a:p>
                      <a:pPr>
                        <a:defRPr sz="1500">
                          <a:solidFill>
                            <a:srgbClr val="FFFFFF"/>
                          </a:solidFill>
                          <a:latin typeface="Segoe UI"/>
                        </a:defRPr>
                      </a:pPr>
                      <a:r>
                        <a:t>Chiffrement</a:t>
                      </a:r>
                    </a:p>
                  </a:txBody>
                  <a:tcPr>
                    <a:solidFill>
                      <a:srgbClr val="1F3864"/>
                    </a:solidFill>
                  </a:tcPr>
                </a:tc>
                <a:tc>
                  <a:txBody>
                    <a:bodyPr/>
                    <a:lstStyle/>
                    <a:p>
                      <a:pPr>
                        <a:defRPr sz="1500">
                          <a:solidFill>
                            <a:srgbClr val="ED7D31"/>
                          </a:solidFill>
                          <a:latin typeface="Segoe UI"/>
                        </a:defRPr>
                      </a:pPr>
                      <a:r>
                        <a:t>En transit (TLS)</a:t>
                      </a:r>
                    </a:p>
                  </a:txBody>
                  <a:tcPr>
                    <a:solidFill>
                      <a:srgbClr val="1F3864"/>
                    </a:solidFill>
                  </a:tcPr>
                </a:tc>
                <a:tc>
                  <a:txBody>
                    <a:bodyPr/>
                    <a:lstStyle/>
                    <a:p>
                      <a:pPr>
                        <a:defRPr sz="1500" b="1">
                          <a:solidFill>
                            <a:srgbClr val="00B050"/>
                          </a:solidFill>
                          <a:latin typeface="Segoe UI"/>
                        </a:defRPr>
                      </a:pPr>
                      <a:r>
                        <a:t>En transit + au repos</a:t>
                      </a:r>
                    </a:p>
                  </a:txBody>
                  <a:tcPr>
                    <a:solidFill>
                      <a:srgbClr val="1F3864"/>
                    </a:solidFill>
                  </a:tcPr>
                </a:tc>
              </a:tr>
              <a:tr h="548640">
                <a:tc>
                  <a:txBody>
                    <a:bodyPr/>
                    <a:lstStyle/>
                    <a:p>
                      <a:pPr>
                        <a:defRPr sz="1500">
                          <a:solidFill>
                            <a:srgbClr val="FFFFFF"/>
                          </a:solidFill>
                          <a:latin typeface="Segoe UI"/>
                        </a:defRPr>
                      </a:pPr>
                      <a:r>
                        <a:t>Authentification</a:t>
                      </a:r>
                    </a:p>
                  </a:txBody>
                  <a:tcPr>
                    <a:solidFill>
                      <a:srgbClr val="182C50"/>
                    </a:solidFill>
                  </a:tcPr>
                </a:tc>
                <a:tc>
                  <a:txBody>
                    <a:bodyPr/>
                    <a:lstStyle/>
                    <a:p>
                      <a:pPr>
                        <a:defRPr sz="1500">
                          <a:solidFill>
                            <a:srgbClr val="ED7D31"/>
                          </a:solidFill>
                          <a:latin typeface="Segoe UI"/>
                        </a:defRPr>
                      </a:pPr>
                      <a:r>
                        <a:t>Mot de passe simple</a:t>
                      </a:r>
                    </a:p>
                  </a:txBody>
                  <a:tcPr>
                    <a:solidFill>
                      <a:srgbClr val="182C50"/>
                    </a:solidFill>
                  </a:tcPr>
                </a:tc>
                <a:tc>
                  <a:txBody>
                    <a:bodyPr/>
                    <a:lstStyle/>
                    <a:p>
                      <a:pPr>
                        <a:defRPr sz="1500" b="1">
                          <a:solidFill>
                            <a:srgbClr val="00B050"/>
                          </a:solidFill>
                          <a:latin typeface="Segoe UI"/>
                        </a:defRPr>
                      </a:pPr>
                      <a:r>
                        <a:t>bcrypt + sessions securisees</a:t>
                      </a:r>
                    </a:p>
                  </a:txBody>
                  <a:tcPr>
                    <a:solidFill>
                      <a:srgbClr val="182C50"/>
                    </a:solidFill>
                  </a:tcPr>
                </a:tc>
              </a:tr>
              <a:tr h="548640">
                <a:tc>
                  <a:txBody>
                    <a:bodyPr/>
                    <a:lstStyle/>
                    <a:p>
                      <a:pPr>
                        <a:defRPr sz="1500">
                          <a:solidFill>
                            <a:srgbClr val="FFFFFF"/>
                          </a:solidFill>
                          <a:latin typeface="Segoe UI"/>
                        </a:defRPr>
                      </a:pPr>
                      <a:r>
                        <a:t>Piste d'audit</a:t>
                      </a:r>
                    </a:p>
                  </a:txBody>
                  <a:tcPr>
                    <a:solidFill>
                      <a:srgbClr val="1F3864"/>
                    </a:solidFill>
                  </a:tcPr>
                </a:tc>
                <a:tc>
                  <a:txBody>
                    <a:bodyPr/>
                    <a:lstStyle/>
                    <a:p>
                      <a:pPr>
                        <a:defRPr sz="1500">
                          <a:solidFill>
                            <a:srgbClr val="ED7D31"/>
                          </a:solidFill>
                          <a:latin typeface="Segoe UI"/>
                        </a:defRPr>
                      </a:pPr>
                      <a:r>
                        <a:t>Variable</a:t>
                      </a:r>
                    </a:p>
                  </a:txBody>
                  <a:tcPr>
                    <a:solidFill>
                      <a:srgbClr val="1F3864"/>
                    </a:solidFill>
                  </a:tcPr>
                </a:tc>
                <a:tc>
                  <a:txBody>
                    <a:bodyPr/>
                    <a:lstStyle/>
                    <a:p>
                      <a:pPr>
                        <a:defRPr sz="1500" b="1">
                          <a:solidFill>
                            <a:srgbClr val="00B050"/>
                          </a:solidFill>
                          <a:latin typeface="Segoe UI"/>
                        </a:defRPr>
                      </a:pPr>
                      <a:r>
                        <a:t>Chaque action enregistree</a:t>
                      </a:r>
                    </a:p>
                  </a:txBody>
                  <a:tcPr>
                    <a:solidFill>
                      <a:srgbClr val="1F3864"/>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sp>
        <p:nvSpPr>
          <p:cNvPr id="2" name="TextBox 1"/>
          <p:cNvSpPr txBox="1"/>
          <p:nvPr/>
        </p:nvSpPr>
        <p:spPr>
          <a:xfrm>
            <a:off x="365760" y="228600"/>
            <a:ext cx="2286000" cy="365760"/>
          </a:xfrm>
          <a:prstGeom prst="rect">
            <a:avLst/>
          </a:prstGeom>
          <a:noFill/>
        </p:spPr>
        <p:txBody>
          <a:bodyPr wrap="none">
            <a:spAutoFit/>
          </a:bodyPr>
          <a:lstStyle/>
          <a:p>
            <a:r>
              <a:rPr sz="1400" b="1">
                <a:solidFill>
                  <a:srgbClr val="FFFFFF"/>
                </a:solidFill>
                <a:latin typeface="Segoe UI"/>
              </a:rPr>
              <a:t>LedgerLink</a:t>
            </a:r>
            <a:r>
              <a:rPr sz="1400" b="1">
                <a:solidFill>
                  <a:srgbClr val="FFD700"/>
                </a:solidFill>
                <a:latin typeface="Segoe UI"/>
              </a:rPr>
              <a:t> AI</a:t>
            </a:r>
          </a:p>
        </p:txBody>
      </p:sp>
      <p:sp>
        <p:nvSpPr>
          <p:cNvPr id="3" name="TextBox 2"/>
          <p:cNvSpPr txBox="1"/>
          <p:nvPr/>
        </p:nvSpPr>
        <p:spPr>
          <a:xfrm>
            <a:off x="640080" y="914400"/>
            <a:ext cx="10972800" cy="1097280"/>
          </a:xfrm>
          <a:prstGeom prst="rect">
            <a:avLst/>
          </a:prstGeom>
          <a:noFill/>
        </p:spPr>
        <p:txBody>
          <a:bodyPr wrap="square">
            <a:spAutoFit/>
          </a:bodyPr>
          <a:lstStyle/>
          <a:p>
            <a:pPr algn="l">
              <a:defRPr sz="3000" b="1">
                <a:solidFill>
                  <a:srgbClr val="FFFFFF"/>
                </a:solidFill>
                <a:latin typeface="Segoe UI"/>
              </a:defRPr>
            </a:pPr>
            <a:r>
              <a:t>Le retour sur investissement se calcule en jours,</a:t>
            </a:r>
            <a:br/>
            <a:r>
              <a:t>pas en mois.</a:t>
            </a:r>
          </a:p>
        </p:txBody>
      </p:sp>
      <p:sp>
        <p:nvSpPr>
          <p:cNvPr id="4" name="Rectangle 3"/>
          <p:cNvSpPr/>
          <p:nvPr/>
        </p:nvSpPr>
        <p:spPr>
          <a:xfrm>
            <a:off x="640080" y="2011680"/>
            <a:ext cx="1828800" cy="508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2377440"/>
          <a:ext cx="6858000" cy="2926080"/>
        </p:xfrm>
        <a:graphic>
          <a:graphicData uri="http://schemas.openxmlformats.org/drawingml/2006/table">
            <a:tbl>
              <a:tblPr firstRow="1" bandRow="1">
                <a:tableStyleId>{5C22544A-7EE6-4342-B048-85BDC9FD1C3A}</a:tableStyleId>
              </a:tblPr>
              <a:tblGrid>
                <a:gridCol w="1714500"/>
                <a:gridCol w="1714500"/>
                <a:gridCol w="1714500"/>
                <a:gridCol w="1714500"/>
              </a:tblGrid>
              <a:tr h="487680">
                <a:tc>
                  <a:txBody>
                    <a:bodyPr/>
                    <a:lstStyle/>
                    <a:p>
                      <a:pPr>
                        <a:defRPr sz="1500" b="1">
                          <a:solidFill>
                            <a:srgbClr val="FFFFFF"/>
                          </a:solidFill>
                          <a:latin typeface="Segoe UI"/>
                        </a:defRPr>
                      </a:pPr>
                      <a:r>
                        <a:t>Tache</a:t>
                      </a:r>
                    </a:p>
                  </a:txBody>
                  <a:tcPr>
                    <a:solidFill>
                      <a:srgbClr val="102040"/>
                    </a:solidFill>
                  </a:tcPr>
                </a:tc>
                <a:tc>
                  <a:txBody>
                    <a:bodyPr/>
                    <a:lstStyle/>
                    <a:p>
                      <a:pPr>
                        <a:defRPr sz="1500" b="1">
                          <a:solidFill>
                            <a:srgbClr val="FFFFFF"/>
                          </a:solidFill>
                          <a:latin typeface="Segoe UI"/>
                        </a:defRPr>
                      </a:pPr>
                      <a:r>
                        <a:t>Avant</a:t>
                      </a:r>
                    </a:p>
                  </a:txBody>
                  <a:tcPr>
                    <a:solidFill>
                      <a:srgbClr val="102040"/>
                    </a:solidFill>
                  </a:tcPr>
                </a:tc>
                <a:tc>
                  <a:txBody>
                    <a:bodyPr/>
                    <a:lstStyle/>
                    <a:p>
                      <a:pPr>
                        <a:defRPr sz="1500" b="1">
                          <a:solidFill>
                            <a:srgbClr val="FFFFFF"/>
                          </a:solidFill>
                          <a:latin typeface="Segoe UI"/>
                        </a:defRPr>
                      </a:pPr>
                      <a:r>
                        <a:t>Apres</a:t>
                      </a:r>
                    </a:p>
                  </a:txBody>
                  <a:tcPr>
                    <a:solidFill>
                      <a:srgbClr val="102040"/>
                    </a:solidFill>
                  </a:tcPr>
                </a:tc>
                <a:tc>
                  <a:txBody>
                    <a:bodyPr/>
                    <a:lstStyle/>
                    <a:p>
                      <a:pPr>
                        <a:defRPr sz="1500" b="1">
                          <a:solidFill>
                            <a:srgbClr val="FFFFFF"/>
                          </a:solidFill>
                          <a:latin typeface="Segoe UI"/>
                        </a:defRPr>
                      </a:pPr>
                      <a:r>
                        <a:t>Economie</a:t>
                      </a:r>
                    </a:p>
                  </a:txBody>
                  <a:tcPr>
                    <a:solidFill>
                      <a:srgbClr val="102040"/>
                    </a:solidFill>
                  </a:tcPr>
                </a:tc>
              </a:tr>
              <a:tr h="487680">
                <a:tc>
                  <a:txBody>
                    <a:bodyPr/>
                    <a:lstStyle/>
                    <a:p>
                      <a:pPr>
                        <a:defRPr sz="1400" b="0">
                          <a:solidFill>
                            <a:srgbClr val="FFFFFF"/>
                          </a:solidFill>
                          <a:latin typeface="Segoe UI"/>
                        </a:defRPr>
                      </a:pPr>
                      <a:r>
                        <a:t>Saisie de donnees</a:t>
                      </a:r>
                    </a:p>
                  </a:txBody>
                  <a:tcPr>
                    <a:solidFill>
                      <a:srgbClr val="182C50"/>
                    </a:solidFill>
                  </a:tcPr>
                </a:tc>
                <a:tc>
                  <a:txBody>
                    <a:bodyPr/>
                    <a:lstStyle/>
                    <a:p>
                      <a:pPr>
                        <a:defRPr sz="1400" b="0">
                          <a:solidFill>
                            <a:srgbClr val="FFFFFF"/>
                          </a:solidFill>
                          <a:latin typeface="Segoe UI"/>
                        </a:defRPr>
                      </a:pPr>
                      <a:r>
                        <a:t>3 h/client</a:t>
                      </a:r>
                    </a:p>
                  </a:txBody>
                  <a:tcPr>
                    <a:solidFill>
                      <a:srgbClr val="182C50"/>
                    </a:solidFill>
                  </a:tcPr>
                </a:tc>
                <a:tc>
                  <a:txBody>
                    <a:bodyPr/>
                    <a:lstStyle/>
                    <a:p>
                      <a:pPr>
                        <a:defRPr sz="1400" b="0">
                          <a:solidFill>
                            <a:srgbClr val="FFFFFF"/>
                          </a:solidFill>
                          <a:latin typeface="Segoe UI"/>
                        </a:defRPr>
                      </a:pPr>
                      <a:r>
                        <a:t>0 h</a:t>
                      </a:r>
                    </a:p>
                  </a:txBody>
                  <a:tcPr>
                    <a:solidFill>
                      <a:srgbClr val="182C50"/>
                    </a:solidFill>
                  </a:tcPr>
                </a:tc>
                <a:tc>
                  <a:txBody>
                    <a:bodyPr/>
                    <a:lstStyle/>
                    <a:p>
                      <a:pPr>
                        <a:defRPr sz="1400" b="1">
                          <a:solidFill>
                            <a:srgbClr val="00B050"/>
                          </a:solidFill>
                          <a:latin typeface="Segoe UI"/>
                        </a:defRPr>
                      </a:pPr>
                      <a:r>
                        <a:t>3 h</a:t>
                      </a:r>
                    </a:p>
                  </a:txBody>
                  <a:tcPr>
                    <a:solidFill>
                      <a:srgbClr val="182C50"/>
                    </a:solidFill>
                  </a:tcPr>
                </a:tc>
              </a:tr>
              <a:tr h="487680">
                <a:tc>
                  <a:txBody>
                    <a:bodyPr/>
                    <a:lstStyle/>
                    <a:p>
                      <a:pPr>
                        <a:defRPr sz="1400" b="0">
                          <a:solidFill>
                            <a:srgbClr val="FFFFFF"/>
                          </a:solidFill>
                          <a:latin typeface="Segoe UI"/>
                        </a:defRPr>
                      </a:pPr>
                      <a:r>
                        <a:t>Rapprochement bancaire</a:t>
                      </a:r>
                    </a:p>
                  </a:txBody>
                  <a:tcPr>
                    <a:solidFill>
                      <a:srgbClr val="1F3864"/>
                    </a:solidFill>
                  </a:tcPr>
                </a:tc>
                <a:tc>
                  <a:txBody>
                    <a:bodyPr/>
                    <a:lstStyle/>
                    <a:p>
                      <a:pPr>
                        <a:defRPr sz="1400" b="0">
                          <a:solidFill>
                            <a:srgbClr val="FFFFFF"/>
                          </a:solidFill>
                          <a:latin typeface="Segoe UI"/>
                        </a:defRPr>
                      </a:pPr>
                      <a:r>
                        <a:t>1,5 h/client</a:t>
                      </a:r>
                    </a:p>
                  </a:txBody>
                  <a:tcPr>
                    <a:solidFill>
                      <a:srgbClr val="1F3864"/>
                    </a:solidFill>
                  </a:tcPr>
                </a:tc>
                <a:tc>
                  <a:txBody>
                    <a:bodyPr/>
                    <a:lstStyle/>
                    <a:p>
                      <a:pPr>
                        <a:defRPr sz="1400" b="0">
                          <a:solidFill>
                            <a:srgbClr val="FFFFFF"/>
                          </a:solidFill>
                          <a:latin typeface="Segoe UI"/>
                        </a:defRPr>
                      </a:pPr>
                      <a:r>
                        <a:t>20 min</a:t>
                      </a:r>
                    </a:p>
                  </a:txBody>
                  <a:tcPr>
                    <a:solidFill>
                      <a:srgbClr val="1F3864"/>
                    </a:solidFill>
                  </a:tcPr>
                </a:tc>
                <a:tc>
                  <a:txBody>
                    <a:bodyPr/>
                    <a:lstStyle/>
                    <a:p>
                      <a:pPr>
                        <a:defRPr sz="1400" b="1">
                          <a:solidFill>
                            <a:srgbClr val="00B050"/>
                          </a:solidFill>
                          <a:latin typeface="Segoe UI"/>
                        </a:defRPr>
                      </a:pPr>
                      <a:r>
                        <a:t>1 h 10</a:t>
                      </a:r>
                    </a:p>
                  </a:txBody>
                  <a:tcPr>
                    <a:solidFill>
                      <a:srgbClr val="1F3864"/>
                    </a:solidFill>
                  </a:tcPr>
                </a:tc>
              </a:tr>
              <a:tr h="487680">
                <a:tc>
                  <a:txBody>
                    <a:bodyPr/>
                    <a:lstStyle/>
                    <a:p>
                      <a:pPr>
                        <a:defRPr sz="1400" b="0">
                          <a:solidFill>
                            <a:srgbClr val="FFFFFF"/>
                          </a:solidFill>
                          <a:latin typeface="Segoe UI"/>
                        </a:defRPr>
                      </a:pPr>
                      <a:r>
                        <a:t>Resume de production</a:t>
                      </a:r>
                    </a:p>
                  </a:txBody>
                  <a:tcPr>
                    <a:solidFill>
                      <a:srgbClr val="182C50"/>
                    </a:solidFill>
                  </a:tcPr>
                </a:tc>
                <a:tc>
                  <a:txBody>
                    <a:bodyPr/>
                    <a:lstStyle/>
                    <a:p>
                      <a:pPr>
                        <a:defRPr sz="1400" b="0">
                          <a:solidFill>
                            <a:srgbClr val="FFFFFF"/>
                          </a:solidFill>
                          <a:latin typeface="Segoe UI"/>
                        </a:defRPr>
                      </a:pPr>
                      <a:r>
                        <a:t>45 min/client</a:t>
                      </a:r>
                    </a:p>
                  </a:txBody>
                  <a:tcPr>
                    <a:solidFill>
                      <a:srgbClr val="182C50"/>
                    </a:solidFill>
                  </a:tcPr>
                </a:tc>
                <a:tc>
                  <a:txBody>
                    <a:bodyPr/>
                    <a:lstStyle/>
                    <a:p>
                      <a:pPr>
                        <a:defRPr sz="1400" b="0">
                          <a:solidFill>
                            <a:srgbClr val="FFFFFF"/>
                          </a:solidFill>
                          <a:latin typeface="Segoe UI"/>
                        </a:defRPr>
                      </a:pPr>
                      <a:r>
                        <a:t>5 min</a:t>
                      </a:r>
                    </a:p>
                  </a:txBody>
                  <a:tcPr>
                    <a:solidFill>
                      <a:srgbClr val="182C50"/>
                    </a:solidFill>
                  </a:tcPr>
                </a:tc>
                <a:tc>
                  <a:txBody>
                    <a:bodyPr/>
                    <a:lstStyle/>
                    <a:p>
                      <a:pPr>
                        <a:defRPr sz="1400" b="1">
                          <a:solidFill>
                            <a:srgbClr val="00B050"/>
                          </a:solidFill>
                          <a:latin typeface="Segoe UI"/>
                        </a:defRPr>
                      </a:pPr>
                      <a:r>
                        <a:t>40 min</a:t>
                      </a:r>
                    </a:p>
                  </a:txBody>
                  <a:tcPr>
                    <a:solidFill>
                      <a:srgbClr val="182C50"/>
                    </a:solidFill>
                  </a:tcPr>
                </a:tc>
              </a:tr>
              <a:tr h="487680">
                <a:tc>
                  <a:txBody>
                    <a:bodyPr/>
                    <a:lstStyle/>
                    <a:p>
                      <a:pPr>
                        <a:defRPr sz="1400" b="0">
                          <a:solidFill>
                            <a:srgbClr val="FFFFFF"/>
                          </a:solidFill>
                          <a:latin typeface="Segoe UI"/>
                        </a:defRPr>
                      </a:pPr>
                      <a:r>
                        <a:t>Detection de doublons</a:t>
                      </a:r>
                    </a:p>
                  </a:txBody>
                  <a:tcPr>
                    <a:solidFill>
                      <a:srgbClr val="1F3864"/>
                    </a:solidFill>
                  </a:tcPr>
                </a:tc>
                <a:tc>
                  <a:txBody>
                    <a:bodyPr/>
                    <a:lstStyle/>
                    <a:p>
                      <a:pPr>
                        <a:defRPr sz="1400" b="0">
                          <a:solidFill>
                            <a:srgbClr val="FFFFFF"/>
                          </a:solidFill>
                          <a:latin typeface="Segoe UI"/>
                        </a:defRPr>
                      </a:pPr>
                      <a:r>
                        <a:t>30 min/client</a:t>
                      </a:r>
                    </a:p>
                  </a:txBody>
                  <a:tcPr>
                    <a:solidFill>
                      <a:srgbClr val="1F3864"/>
                    </a:solidFill>
                  </a:tcPr>
                </a:tc>
                <a:tc>
                  <a:txBody>
                    <a:bodyPr/>
                    <a:lstStyle/>
                    <a:p>
                      <a:pPr>
                        <a:defRPr sz="1400" b="0">
                          <a:solidFill>
                            <a:srgbClr val="FFFFFF"/>
                          </a:solidFill>
                          <a:latin typeface="Segoe UI"/>
                        </a:defRPr>
                      </a:pPr>
                      <a:r>
                        <a:t>0 min</a:t>
                      </a:r>
                    </a:p>
                  </a:txBody>
                  <a:tcPr>
                    <a:solidFill>
                      <a:srgbClr val="1F3864"/>
                    </a:solidFill>
                  </a:tcPr>
                </a:tc>
                <a:tc>
                  <a:txBody>
                    <a:bodyPr/>
                    <a:lstStyle/>
                    <a:p>
                      <a:pPr>
                        <a:defRPr sz="1400" b="1">
                          <a:solidFill>
                            <a:srgbClr val="00B050"/>
                          </a:solidFill>
                          <a:latin typeface="Segoe UI"/>
                        </a:defRPr>
                      </a:pPr>
                      <a:r>
                        <a:t>30 min</a:t>
                      </a:r>
                    </a:p>
                  </a:txBody>
                  <a:tcPr>
                    <a:solidFill>
                      <a:srgbClr val="1F3864"/>
                    </a:solidFill>
                  </a:tcPr>
                </a:tc>
              </a:tr>
              <a:tr h="487680">
                <a:tc>
                  <a:txBody>
                    <a:bodyPr/>
                    <a:lstStyle/>
                    <a:p>
                      <a:pPr>
                        <a:defRPr sz="1400" b="1">
                          <a:solidFill>
                            <a:srgbClr val="FFD700"/>
                          </a:solidFill>
                          <a:latin typeface="Segoe UI"/>
                        </a:defRPr>
                      </a:pPr>
                      <a:r>
                        <a:t>TOTAL PAR CLIENT</a:t>
                      </a:r>
                    </a:p>
                  </a:txBody>
                  <a:tcPr>
                    <a:solidFill>
                      <a:srgbClr val="2E75B6"/>
                    </a:solidFill>
                  </a:tcPr>
                </a:tc>
                <a:tc>
                  <a:txBody>
                    <a:bodyPr/>
                    <a:lstStyle/>
                    <a:p>
                      <a:pPr>
                        <a:defRPr sz="1400" b="1">
                          <a:solidFill>
                            <a:srgbClr val="FFD700"/>
                          </a:solidFill>
                          <a:latin typeface="Segoe UI"/>
                        </a:defRPr>
                      </a:pPr>
                      <a:r>
                        <a:t>5 h 45</a:t>
                      </a:r>
                    </a:p>
                  </a:txBody>
                  <a:tcPr>
                    <a:solidFill>
                      <a:srgbClr val="2E75B6"/>
                    </a:solidFill>
                  </a:tcPr>
                </a:tc>
                <a:tc>
                  <a:txBody>
                    <a:bodyPr/>
                    <a:lstStyle/>
                    <a:p>
                      <a:pPr>
                        <a:defRPr sz="1400" b="1">
                          <a:solidFill>
                            <a:srgbClr val="FFD700"/>
                          </a:solidFill>
                          <a:latin typeface="Segoe UI"/>
                        </a:defRPr>
                      </a:pPr>
                      <a:r>
                        <a:t>25 min</a:t>
                      </a:r>
                    </a:p>
                  </a:txBody>
                  <a:tcPr>
                    <a:solidFill>
                      <a:srgbClr val="2E75B6"/>
                    </a:solidFill>
                  </a:tcPr>
                </a:tc>
                <a:tc>
                  <a:txBody>
                    <a:bodyPr/>
                    <a:lstStyle/>
                    <a:p>
                      <a:pPr>
                        <a:defRPr sz="1400" b="1">
                          <a:solidFill>
                            <a:srgbClr val="00B050"/>
                          </a:solidFill>
                          <a:latin typeface="Segoe UI"/>
                        </a:defRPr>
                      </a:pPr>
                      <a:r>
                        <a:t>5 h 20</a:t>
                      </a:r>
                    </a:p>
                  </a:txBody>
                  <a:tcPr>
                    <a:solidFill>
                      <a:srgbClr val="2E75B6"/>
                    </a:solidFill>
                  </a:tcPr>
                </a:tc>
              </a:tr>
            </a:tbl>
          </a:graphicData>
        </a:graphic>
      </p:graphicFrame>
      <p:sp>
        <p:nvSpPr>
          <p:cNvPr id="6" name="Rounded Rectangle 5"/>
          <p:cNvSpPr/>
          <p:nvPr/>
        </p:nvSpPr>
        <p:spPr>
          <a:xfrm>
            <a:off x="8046720" y="2377440"/>
            <a:ext cx="3657600" cy="118872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10 clients</a:t>
            </a:r>
          </a:p>
          <a:p>
            <a:pPr>
              <a:defRPr sz="1400">
                <a:solidFill>
                  <a:srgbClr val="9DC3E6"/>
                </a:solidFill>
                <a:latin typeface="Segoe UI"/>
              </a:defRPr>
            </a:pPr>
            <a:r>
              <a:t>53 h/mois  =  7 950$</a:t>
            </a:r>
          </a:p>
          <a:p>
            <a:pPr>
              <a:defRPr sz="2200" b="1">
                <a:solidFill>
                  <a:srgbClr val="FFD700"/>
                </a:solidFill>
                <a:latin typeface="Segoe UI"/>
              </a:defRPr>
            </a:pPr>
            <a:r>
              <a:t>ROI 8 000%</a:t>
            </a:r>
          </a:p>
        </p:txBody>
      </p:sp>
      <p:sp>
        <p:nvSpPr>
          <p:cNvPr id="7" name="Rounded Rectangle 6"/>
          <p:cNvSpPr/>
          <p:nvPr/>
        </p:nvSpPr>
        <p:spPr>
          <a:xfrm>
            <a:off x="8046720" y="3840480"/>
            <a:ext cx="3657600" cy="118872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30 clients</a:t>
            </a:r>
          </a:p>
          <a:p>
            <a:pPr>
              <a:defRPr sz="1400">
                <a:solidFill>
                  <a:srgbClr val="9DC3E6"/>
                </a:solidFill>
                <a:latin typeface="Segoe UI"/>
              </a:defRPr>
            </a:pPr>
            <a:r>
              <a:t>160 h/mois  =  24 000$</a:t>
            </a:r>
          </a:p>
          <a:p>
            <a:pPr>
              <a:defRPr sz="2200" b="1">
                <a:solidFill>
                  <a:srgbClr val="FFD700"/>
                </a:solidFill>
                <a:latin typeface="Segoe UI"/>
              </a:defRPr>
            </a:pPr>
            <a:r>
              <a:t>ROI 9 600%</a:t>
            </a:r>
          </a:p>
        </p:txBody>
      </p:sp>
      <p:sp>
        <p:nvSpPr>
          <p:cNvPr id="8" name="Rounded Rectangle 7"/>
          <p:cNvSpPr/>
          <p:nvPr/>
        </p:nvSpPr>
        <p:spPr>
          <a:xfrm>
            <a:off x="8046720" y="5303520"/>
            <a:ext cx="3657600" cy="118872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75 clients</a:t>
            </a:r>
          </a:p>
          <a:p>
            <a:pPr>
              <a:defRPr sz="1400">
                <a:solidFill>
                  <a:srgbClr val="9DC3E6"/>
                </a:solidFill>
                <a:latin typeface="Segoe UI"/>
              </a:defRPr>
            </a:pPr>
            <a:r>
              <a:t>400 h/mois  =  60 000$</a:t>
            </a:r>
          </a:p>
          <a:p>
            <a:pPr>
              <a:defRPr sz="2200" b="1">
                <a:solidFill>
                  <a:srgbClr val="FFD700"/>
                </a:solidFill>
                <a:latin typeface="Segoe UI"/>
              </a:defRPr>
            </a:pPr>
            <a:r>
              <a:t>ROI 12 000%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sp>
        <p:nvSpPr>
          <p:cNvPr id="2" name="TextBox 1"/>
          <p:cNvSpPr txBox="1"/>
          <p:nvPr/>
        </p:nvSpPr>
        <p:spPr>
          <a:xfrm>
            <a:off x="365760" y="228600"/>
            <a:ext cx="2286000" cy="365760"/>
          </a:xfrm>
          <a:prstGeom prst="rect">
            <a:avLst/>
          </a:prstGeom>
          <a:noFill/>
        </p:spPr>
        <p:txBody>
          <a:bodyPr wrap="none">
            <a:spAutoFit/>
          </a:bodyPr>
          <a:lstStyle/>
          <a:p>
            <a:r>
              <a:rPr sz="1400" b="1">
                <a:solidFill>
                  <a:srgbClr val="FFFFFF"/>
                </a:solidFill>
                <a:latin typeface="Segoe UI"/>
              </a:rPr>
              <a:t>LedgerLink</a:t>
            </a:r>
            <a:r>
              <a:rPr sz="1400" b="1">
                <a:solidFill>
                  <a:srgbClr val="FFD700"/>
                </a:solidFill>
                <a:latin typeface="Segoe UI"/>
              </a:rPr>
              <a:t> AI</a:t>
            </a:r>
          </a:p>
        </p:txBody>
      </p:sp>
      <p:sp>
        <p:nvSpPr>
          <p:cNvPr id="3" name="TextBox 2"/>
          <p:cNvSpPr txBox="1"/>
          <p:nvPr/>
        </p:nvSpPr>
        <p:spPr>
          <a:xfrm>
            <a:off x="640080" y="914400"/>
            <a:ext cx="10972800" cy="1097280"/>
          </a:xfrm>
          <a:prstGeom prst="rect">
            <a:avLst/>
          </a:prstGeom>
          <a:noFill/>
        </p:spPr>
        <p:txBody>
          <a:bodyPr wrap="square">
            <a:spAutoFit/>
          </a:bodyPr>
          <a:lstStyle/>
          <a:p>
            <a:pPr algn="l">
              <a:defRPr sz="3200" b="1">
                <a:solidFill>
                  <a:srgbClr val="FFFFFF"/>
                </a:solidFill>
                <a:latin typeface="Segoe UI"/>
              </a:defRPr>
            </a:pPr>
            <a:r>
              <a:t>Module d'audit CPA complet</a:t>
            </a:r>
          </a:p>
        </p:txBody>
      </p:sp>
      <p:sp>
        <p:nvSpPr>
          <p:cNvPr id="4" name="TextBox 3"/>
          <p:cNvSpPr txBox="1"/>
          <p:nvPr/>
        </p:nvSpPr>
        <p:spPr>
          <a:xfrm>
            <a:off x="640080" y="1554480"/>
            <a:ext cx="10972800" cy="731520"/>
          </a:xfrm>
          <a:prstGeom prst="rect">
            <a:avLst/>
          </a:prstGeom>
          <a:noFill/>
        </p:spPr>
        <p:txBody>
          <a:bodyPr wrap="square">
            <a:spAutoFit/>
          </a:bodyPr>
          <a:lstStyle/>
          <a:p>
            <a:pPr algn="l">
              <a:defRPr sz="2400">
                <a:solidFill>
                  <a:srgbClr val="9DC3E6"/>
                </a:solidFill>
                <a:latin typeface="Segoe UI"/>
              </a:defRPr>
            </a:pPr>
            <a:r>
              <a:t>Verification, examen et compilation --- tout dans un seul systeme</a:t>
            </a:r>
          </a:p>
        </p:txBody>
      </p:sp>
      <p:sp>
        <p:nvSpPr>
          <p:cNvPr id="5" name="Rectangle 4"/>
          <p:cNvSpPr/>
          <p:nvPr/>
        </p:nvSpPr>
        <p:spPr>
          <a:xfrm>
            <a:off x="640080" y="2011680"/>
            <a:ext cx="1828800" cy="508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377440"/>
            <a:ext cx="5303520" cy="502920"/>
          </a:xfrm>
          <a:prstGeom prst="rect">
            <a:avLst/>
          </a:prstGeom>
          <a:noFill/>
        </p:spPr>
        <p:txBody>
          <a:bodyPr wrap="square">
            <a:spAutoFit/>
          </a:bodyPr>
          <a:lstStyle/>
          <a:p>
            <a:r>
              <a:rPr sz="1700" b="1">
                <a:solidFill>
                  <a:srgbClr val="FFD700"/>
                </a:solidFill>
                <a:latin typeface="Segoe UI"/>
              </a:rPr>
              <a:t>CAS 315  </a:t>
            </a:r>
            <a:r>
              <a:rPr sz="1700">
                <a:solidFill>
                  <a:srgbClr val="FFFFFF"/>
                </a:solidFill>
                <a:latin typeface="Segoe UI"/>
              </a:rPr>
              <a:t>Evaluation des risques</a:t>
            </a:r>
          </a:p>
        </p:txBody>
      </p:sp>
      <p:sp>
        <p:nvSpPr>
          <p:cNvPr id="7" name="TextBox 6"/>
          <p:cNvSpPr txBox="1"/>
          <p:nvPr/>
        </p:nvSpPr>
        <p:spPr>
          <a:xfrm>
            <a:off x="640080" y="2971800"/>
            <a:ext cx="5303520" cy="502920"/>
          </a:xfrm>
          <a:prstGeom prst="rect">
            <a:avLst/>
          </a:prstGeom>
          <a:noFill/>
        </p:spPr>
        <p:txBody>
          <a:bodyPr wrap="square">
            <a:spAutoFit/>
          </a:bodyPr>
          <a:lstStyle/>
          <a:p>
            <a:r>
              <a:rPr sz="1700" b="1">
                <a:solidFill>
                  <a:srgbClr val="FFD700"/>
                </a:solidFill>
                <a:latin typeface="Segoe UI"/>
              </a:rPr>
              <a:t>CAS 320  </a:t>
            </a:r>
            <a:r>
              <a:rPr sz="1700">
                <a:solidFill>
                  <a:srgbClr val="FFFFFF"/>
                </a:solidFill>
                <a:latin typeface="Segoe UI"/>
              </a:rPr>
              <a:t>Importance relative</a:t>
            </a:r>
          </a:p>
        </p:txBody>
      </p:sp>
      <p:sp>
        <p:nvSpPr>
          <p:cNvPr id="8" name="TextBox 7"/>
          <p:cNvSpPr txBox="1"/>
          <p:nvPr/>
        </p:nvSpPr>
        <p:spPr>
          <a:xfrm>
            <a:off x="640080" y="3566160"/>
            <a:ext cx="5303520" cy="502920"/>
          </a:xfrm>
          <a:prstGeom prst="rect">
            <a:avLst/>
          </a:prstGeom>
          <a:noFill/>
        </p:spPr>
        <p:txBody>
          <a:bodyPr wrap="square">
            <a:spAutoFit/>
          </a:bodyPr>
          <a:lstStyle/>
          <a:p>
            <a:r>
              <a:rPr sz="1700" b="1">
                <a:solidFill>
                  <a:srgbClr val="FFD700"/>
                </a:solidFill>
                <a:latin typeface="Segoe UI"/>
              </a:rPr>
              <a:t>CAS 330  </a:t>
            </a:r>
            <a:r>
              <a:rPr sz="1700">
                <a:solidFill>
                  <a:srgbClr val="FFFFFF"/>
                </a:solidFill>
                <a:latin typeface="Segoe UI"/>
              </a:rPr>
              <a:t>Procedures d'audit</a:t>
            </a:r>
          </a:p>
        </p:txBody>
      </p:sp>
      <p:sp>
        <p:nvSpPr>
          <p:cNvPr id="9" name="TextBox 8"/>
          <p:cNvSpPr txBox="1"/>
          <p:nvPr/>
        </p:nvSpPr>
        <p:spPr>
          <a:xfrm>
            <a:off x="640080" y="4160520"/>
            <a:ext cx="5303520" cy="502920"/>
          </a:xfrm>
          <a:prstGeom prst="rect">
            <a:avLst/>
          </a:prstGeom>
          <a:noFill/>
        </p:spPr>
        <p:txBody>
          <a:bodyPr wrap="square">
            <a:spAutoFit/>
          </a:bodyPr>
          <a:lstStyle/>
          <a:p>
            <a:r>
              <a:rPr sz="1700" b="1">
                <a:solidFill>
                  <a:srgbClr val="FFD700"/>
                </a:solidFill>
                <a:latin typeface="Segoe UI"/>
              </a:rPr>
              <a:t>CAS 500  </a:t>
            </a:r>
            <a:r>
              <a:rPr sz="1700">
                <a:solidFill>
                  <a:srgbClr val="FFFFFF"/>
                </a:solidFill>
                <a:latin typeface="Segoe UI"/>
              </a:rPr>
              <a:t>Elements probants</a:t>
            </a:r>
          </a:p>
        </p:txBody>
      </p:sp>
      <p:sp>
        <p:nvSpPr>
          <p:cNvPr id="10" name="TextBox 9"/>
          <p:cNvSpPr txBox="1"/>
          <p:nvPr/>
        </p:nvSpPr>
        <p:spPr>
          <a:xfrm>
            <a:off x="640080" y="4754880"/>
            <a:ext cx="5303520" cy="502920"/>
          </a:xfrm>
          <a:prstGeom prst="rect">
            <a:avLst/>
          </a:prstGeom>
          <a:noFill/>
        </p:spPr>
        <p:txBody>
          <a:bodyPr wrap="square">
            <a:spAutoFit/>
          </a:bodyPr>
          <a:lstStyle/>
          <a:p>
            <a:r>
              <a:rPr sz="1700" b="1">
                <a:solidFill>
                  <a:srgbClr val="FFD700"/>
                </a:solidFill>
                <a:latin typeface="Segoe UI"/>
              </a:rPr>
              <a:t>CAS 505  </a:t>
            </a:r>
            <a:r>
              <a:rPr sz="1700">
                <a:solidFill>
                  <a:srgbClr val="FFFFFF"/>
                </a:solidFill>
                <a:latin typeface="Segoe UI"/>
              </a:rPr>
              <a:t>Confirmations</a:t>
            </a:r>
          </a:p>
        </p:txBody>
      </p:sp>
      <p:sp>
        <p:nvSpPr>
          <p:cNvPr id="11" name="TextBox 10"/>
          <p:cNvSpPr txBox="1"/>
          <p:nvPr/>
        </p:nvSpPr>
        <p:spPr>
          <a:xfrm>
            <a:off x="640080" y="5349240"/>
            <a:ext cx="5303520" cy="502920"/>
          </a:xfrm>
          <a:prstGeom prst="rect">
            <a:avLst/>
          </a:prstGeom>
          <a:noFill/>
        </p:spPr>
        <p:txBody>
          <a:bodyPr wrap="square">
            <a:spAutoFit/>
          </a:bodyPr>
          <a:lstStyle/>
          <a:p>
            <a:r>
              <a:rPr sz="1700" b="1">
                <a:solidFill>
                  <a:srgbClr val="FFD700"/>
                </a:solidFill>
                <a:latin typeface="Segoe UI"/>
              </a:rPr>
              <a:t>CAS 530  </a:t>
            </a:r>
            <a:r>
              <a:rPr sz="1700">
                <a:solidFill>
                  <a:srgbClr val="FFFFFF"/>
                </a:solidFill>
                <a:latin typeface="Segoe UI"/>
              </a:rPr>
              <a:t>Echantillonnage</a:t>
            </a:r>
          </a:p>
        </p:txBody>
      </p:sp>
      <p:sp>
        <p:nvSpPr>
          <p:cNvPr id="12" name="TextBox 11"/>
          <p:cNvSpPr txBox="1"/>
          <p:nvPr/>
        </p:nvSpPr>
        <p:spPr>
          <a:xfrm>
            <a:off x="6309360" y="2377440"/>
            <a:ext cx="5303520" cy="502920"/>
          </a:xfrm>
          <a:prstGeom prst="rect">
            <a:avLst/>
          </a:prstGeom>
          <a:noFill/>
        </p:spPr>
        <p:txBody>
          <a:bodyPr wrap="square">
            <a:spAutoFit/>
          </a:bodyPr>
          <a:lstStyle/>
          <a:p>
            <a:r>
              <a:rPr sz="1700" b="1">
                <a:solidFill>
                  <a:srgbClr val="FFD700"/>
                </a:solidFill>
                <a:latin typeface="Segoe UI"/>
              </a:rPr>
              <a:t>CAS 550  </a:t>
            </a:r>
            <a:r>
              <a:rPr sz="1700">
                <a:solidFill>
                  <a:srgbClr val="FFFFFF"/>
                </a:solidFill>
                <a:latin typeface="Segoe UI"/>
              </a:rPr>
              <a:t>Parties liees</a:t>
            </a:r>
          </a:p>
        </p:txBody>
      </p:sp>
      <p:sp>
        <p:nvSpPr>
          <p:cNvPr id="13" name="TextBox 12"/>
          <p:cNvSpPr txBox="1"/>
          <p:nvPr/>
        </p:nvSpPr>
        <p:spPr>
          <a:xfrm>
            <a:off x="6309360" y="2971800"/>
            <a:ext cx="5303520" cy="502920"/>
          </a:xfrm>
          <a:prstGeom prst="rect">
            <a:avLst/>
          </a:prstGeom>
          <a:noFill/>
        </p:spPr>
        <p:txBody>
          <a:bodyPr wrap="square">
            <a:spAutoFit/>
          </a:bodyPr>
          <a:lstStyle/>
          <a:p>
            <a:r>
              <a:rPr sz="1700" b="1">
                <a:solidFill>
                  <a:srgbClr val="FFD700"/>
                </a:solidFill>
                <a:latin typeface="Segoe UI"/>
              </a:rPr>
              <a:t>CAS 560  </a:t>
            </a:r>
            <a:r>
              <a:rPr sz="1700">
                <a:solidFill>
                  <a:srgbClr val="FFFFFF"/>
                </a:solidFill>
                <a:latin typeface="Segoe UI"/>
              </a:rPr>
              <a:t>Evenements posterieurs</a:t>
            </a:r>
          </a:p>
        </p:txBody>
      </p:sp>
      <p:sp>
        <p:nvSpPr>
          <p:cNvPr id="14" name="TextBox 13"/>
          <p:cNvSpPr txBox="1"/>
          <p:nvPr/>
        </p:nvSpPr>
        <p:spPr>
          <a:xfrm>
            <a:off x="6309360" y="3566160"/>
            <a:ext cx="5303520" cy="502920"/>
          </a:xfrm>
          <a:prstGeom prst="rect">
            <a:avLst/>
          </a:prstGeom>
          <a:noFill/>
        </p:spPr>
        <p:txBody>
          <a:bodyPr wrap="square">
            <a:spAutoFit/>
          </a:bodyPr>
          <a:lstStyle/>
          <a:p>
            <a:r>
              <a:rPr sz="1700" b="1">
                <a:solidFill>
                  <a:srgbClr val="FFD700"/>
                </a:solidFill>
                <a:latin typeface="Segoe UI"/>
              </a:rPr>
              <a:t>CAS 570  </a:t>
            </a:r>
            <a:r>
              <a:rPr sz="1700">
                <a:solidFill>
                  <a:srgbClr val="FFFFFF"/>
                </a:solidFill>
                <a:latin typeface="Segoe UI"/>
              </a:rPr>
              <a:t>Continuite d'exploitation</a:t>
            </a:r>
          </a:p>
        </p:txBody>
      </p:sp>
      <p:sp>
        <p:nvSpPr>
          <p:cNvPr id="15" name="TextBox 14"/>
          <p:cNvSpPr txBox="1"/>
          <p:nvPr/>
        </p:nvSpPr>
        <p:spPr>
          <a:xfrm>
            <a:off x="6309360" y="4160520"/>
            <a:ext cx="5303520" cy="502920"/>
          </a:xfrm>
          <a:prstGeom prst="rect">
            <a:avLst/>
          </a:prstGeom>
          <a:noFill/>
        </p:spPr>
        <p:txBody>
          <a:bodyPr wrap="square">
            <a:spAutoFit/>
          </a:bodyPr>
          <a:lstStyle/>
          <a:p>
            <a:r>
              <a:rPr sz="1700" b="1">
                <a:solidFill>
                  <a:srgbClr val="FFD700"/>
                </a:solidFill>
                <a:latin typeface="Segoe UI"/>
              </a:rPr>
              <a:t>CAS 580  </a:t>
            </a:r>
            <a:r>
              <a:rPr sz="1700">
                <a:solidFill>
                  <a:srgbClr val="FFFFFF"/>
                </a:solidFill>
                <a:latin typeface="Segoe UI"/>
              </a:rPr>
              <a:t>Declarations de la direction</a:t>
            </a:r>
          </a:p>
        </p:txBody>
      </p:sp>
      <p:sp>
        <p:nvSpPr>
          <p:cNvPr id="16" name="TextBox 15"/>
          <p:cNvSpPr txBox="1"/>
          <p:nvPr/>
        </p:nvSpPr>
        <p:spPr>
          <a:xfrm>
            <a:off x="6309360" y="4754880"/>
            <a:ext cx="5303520" cy="502920"/>
          </a:xfrm>
          <a:prstGeom prst="rect">
            <a:avLst/>
          </a:prstGeom>
          <a:noFill/>
        </p:spPr>
        <p:txBody>
          <a:bodyPr wrap="square">
            <a:spAutoFit/>
          </a:bodyPr>
          <a:lstStyle/>
          <a:p>
            <a:r>
              <a:rPr sz="1700" b="1">
                <a:solidFill>
                  <a:srgbClr val="FFD700"/>
                </a:solidFill>
                <a:latin typeface="Segoe UI"/>
              </a:rPr>
              <a:t>CAS 700  </a:t>
            </a:r>
            <a:r>
              <a:rPr sz="1700">
                <a:solidFill>
                  <a:srgbClr val="FFFFFF"/>
                </a:solidFill>
                <a:latin typeface="Segoe UI"/>
              </a:rPr>
              <a:t>Rapport de l'auditeur</a:t>
            </a:r>
          </a:p>
        </p:txBody>
      </p:sp>
      <p:sp>
        <p:nvSpPr>
          <p:cNvPr id="17" name="TextBox 16"/>
          <p:cNvSpPr txBox="1"/>
          <p:nvPr/>
        </p:nvSpPr>
        <p:spPr>
          <a:xfrm>
            <a:off x="6309360" y="5349240"/>
            <a:ext cx="5303520" cy="502920"/>
          </a:xfrm>
          <a:prstGeom prst="rect">
            <a:avLst/>
          </a:prstGeom>
          <a:noFill/>
        </p:spPr>
        <p:txBody>
          <a:bodyPr wrap="square">
            <a:spAutoFit/>
          </a:bodyPr>
          <a:lstStyle/>
          <a:p>
            <a:r>
              <a:rPr sz="1700" b="1">
                <a:solidFill>
                  <a:srgbClr val="FFD700"/>
                </a:solidFill>
                <a:latin typeface="Segoe UI"/>
              </a:rPr>
              <a:t>CSQC 1  </a:t>
            </a:r>
            <a:r>
              <a:rPr sz="1700">
                <a:solidFill>
                  <a:srgbClr val="FFFFFF"/>
                </a:solidFill>
                <a:latin typeface="Segoe UI"/>
              </a:rPr>
              <a:t>Controle qualite</a:t>
            </a:r>
          </a:p>
        </p:txBody>
      </p:sp>
      <p:sp>
        <p:nvSpPr>
          <p:cNvPr id="18" name="TextBox 17"/>
          <p:cNvSpPr txBox="1"/>
          <p:nvPr/>
        </p:nvSpPr>
        <p:spPr>
          <a:xfrm>
            <a:off x="640080" y="5943600"/>
            <a:ext cx="10515600" cy="3657600"/>
          </a:xfrm>
          <a:prstGeom prst="rect">
            <a:avLst/>
          </a:prstGeom>
          <a:noFill/>
        </p:spPr>
        <p:txBody>
          <a:bodyPr wrap="square">
            <a:spAutoFit/>
          </a:bodyPr>
          <a:lstStyle/>
          <a:p>
            <a:pPr>
              <a:spcAft>
                <a:spcPts val="800"/>
              </a:spcAft>
              <a:defRPr sz="1800" b="0">
                <a:solidFill>
                  <a:srgbClr val="9DC3E6"/>
                </a:solidFill>
                <a:latin typeface="Segoe UI"/>
              </a:defRPr>
            </a:pPr>
            <a:r>
              <a:t>Etats financiers  |  Procedures analytiques  |  Suivi du temps  |  PDF par composante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A30"/>
        </a:solidFill>
        <a:effectLst/>
      </p:bgPr>
    </p:bg>
    <p:spTree>
      <p:nvGrpSpPr>
        <p:cNvPr id="1" name=""/>
        <p:cNvGrpSpPr/>
        <p:nvPr/>
      </p:nvGrpSpPr>
      <p:grpSpPr/>
      <p:sp>
        <p:nvSpPr>
          <p:cNvPr id="2" name="TextBox 1"/>
          <p:cNvSpPr txBox="1"/>
          <p:nvPr/>
        </p:nvSpPr>
        <p:spPr>
          <a:xfrm>
            <a:off x="365760" y="228600"/>
            <a:ext cx="2286000" cy="365760"/>
          </a:xfrm>
          <a:prstGeom prst="rect">
            <a:avLst/>
          </a:prstGeom>
          <a:noFill/>
        </p:spPr>
        <p:txBody>
          <a:bodyPr wrap="none">
            <a:spAutoFit/>
          </a:bodyPr>
          <a:lstStyle/>
          <a:p>
            <a:r>
              <a:rPr sz="1400" b="1">
                <a:solidFill>
                  <a:srgbClr val="FFFFFF"/>
                </a:solidFill>
                <a:latin typeface="Segoe UI"/>
              </a:rPr>
              <a:t>LedgerLink</a:t>
            </a:r>
            <a:r>
              <a:rPr sz="1400" b="1">
                <a:solidFill>
                  <a:srgbClr val="FFD700"/>
                </a:solidFill>
                <a:latin typeface="Segoe UI"/>
              </a:rPr>
              <a:t> AI</a:t>
            </a:r>
          </a:p>
        </p:txBody>
      </p:sp>
      <p:sp>
        <p:nvSpPr>
          <p:cNvPr id="3" name="TextBox 2"/>
          <p:cNvSpPr txBox="1"/>
          <p:nvPr/>
        </p:nvSpPr>
        <p:spPr>
          <a:xfrm>
            <a:off x="640080" y="914400"/>
            <a:ext cx="10972800" cy="1097280"/>
          </a:xfrm>
          <a:prstGeom prst="rect">
            <a:avLst/>
          </a:prstGeom>
          <a:noFill/>
        </p:spPr>
        <p:txBody>
          <a:bodyPr wrap="square">
            <a:spAutoFit/>
          </a:bodyPr>
          <a:lstStyle/>
          <a:p>
            <a:pPr algn="l">
              <a:defRPr sz="3400" b="1">
                <a:solidFill>
                  <a:srgbClr val="FFFFFF"/>
                </a:solidFill>
                <a:latin typeface="Segoe UI"/>
              </a:defRPr>
            </a:pPr>
            <a:r>
              <a:t>Des prix simples. Pas de surprise.</a:t>
            </a:r>
          </a:p>
        </p:txBody>
      </p:sp>
      <p:sp>
        <p:nvSpPr>
          <p:cNvPr id="4" name="Rectangle 3"/>
          <p:cNvSpPr/>
          <p:nvPr/>
        </p:nvSpPr>
        <p:spPr>
          <a:xfrm>
            <a:off x="640080" y="1691640"/>
            <a:ext cx="1828800" cy="508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2103120"/>
            <a:ext cx="2697480" cy="4206240"/>
          </a:xfrm>
          <a:prstGeom prst="roundRect">
            <a:avLst/>
          </a:prstGeom>
          <a:solidFill>
            <a:srgbClr val="182C50"/>
          </a:solidFill>
          <a:ln w="254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2240280"/>
            <a:ext cx="2423160" cy="365760"/>
          </a:xfrm>
          <a:prstGeom prst="rect">
            <a:avLst/>
          </a:prstGeom>
          <a:noFill/>
        </p:spPr>
        <p:txBody>
          <a:bodyPr wrap="none">
            <a:spAutoFit/>
          </a:bodyPr>
          <a:lstStyle/>
          <a:p>
            <a:pPr algn="ctr">
              <a:defRPr sz="1800" b="1">
                <a:solidFill>
                  <a:srgbClr val="2E75B6"/>
                </a:solidFill>
                <a:latin typeface="Segoe UI"/>
              </a:defRPr>
            </a:pPr>
            <a:r>
              <a:t>Essentiel</a:t>
            </a:r>
          </a:p>
        </p:txBody>
      </p:sp>
      <p:sp>
        <p:nvSpPr>
          <p:cNvPr id="7" name="TextBox 6"/>
          <p:cNvSpPr txBox="1"/>
          <p:nvPr/>
        </p:nvSpPr>
        <p:spPr>
          <a:xfrm>
            <a:off x="594360" y="2606040"/>
            <a:ext cx="2423160" cy="640080"/>
          </a:xfrm>
          <a:prstGeom prst="rect">
            <a:avLst/>
          </a:prstGeom>
          <a:noFill/>
        </p:spPr>
        <p:txBody>
          <a:bodyPr wrap="none">
            <a:spAutoFit/>
          </a:bodyPr>
          <a:lstStyle/>
          <a:p>
            <a:pPr algn="ctr"/>
            <a:r>
              <a:rPr sz="3600" b="1">
                <a:solidFill>
                  <a:srgbClr val="FFFFFF"/>
                </a:solidFill>
                <a:latin typeface="Segoe UI"/>
              </a:rPr>
              <a:t>99$</a:t>
            </a:r>
            <a:r>
              <a:rPr sz="1600">
                <a:solidFill>
                  <a:srgbClr val="9DC3E6"/>
                </a:solidFill>
                <a:latin typeface="Segoe UI"/>
              </a:rPr>
              <a:t>/mois</a:t>
            </a:r>
          </a:p>
        </p:txBody>
      </p:sp>
      <p:sp>
        <p:nvSpPr>
          <p:cNvPr id="8" name="TextBox 7"/>
          <p:cNvSpPr txBox="1"/>
          <p:nvPr/>
        </p:nvSpPr>
        <p:spPr>
          <a:xfrm>
            <a:off x="594360" y="3291840"/>
            <a:ext cx="2423160" cy="365760"/>
          </a:xfrm>
          <a:prstGeom prst="rect">
            <a:avLst/>
          </a:prstGeom>
          <a:noFill/>
        </p:spPr>
        <p:txBody>
          <a:bodyPr wrap="none">
            <a:spAutoFit/>
          </a:bodyPr>
          <a:lstStyle/>
          <a:p>
            <a:pPr algn="ctr">
              <a:defRPr sz="1300">
                <a:solidFill>
                  <a:srgbClr val="9DC3E6"/>
                </a:solidFill>
                <a:latin typeface="Segoe UI"/>
              </a:defRPr>
            </a:pPr>
            <a:r>
              <a:t>10 clients | 3 utilisateurs</a:t>
            </a:r>
          </a:p>
        </p:txBody>
      </p:sp>
      <p:sp>
        <p:nvSpPr>
          <p:cNvPr id="9" name="TextBox 8"/>
          <p:cNvSpPr txBox="1"/>
          <p:nvPr/>
        </p:nvSpPr>
        <p:spPr>
          <a:xfrm>
            <a:off x="594360" y="3749040"/>
            <a:ext cx="2423160" cy="2286000"/>
          </a:xfrm>
          <a:prstGeom prst="rect">
            <a:avLst/>
          </a:prstGeom>
          <a:noFill/>
        </p:spPr>
        <p:txBody>
          <a:bodyPr wrap="square">
            <a:spAutoFit/>
          </a:bodyPr>
          <a:lstStyle/>
          <a:p>
            <a:pPr algn="ctr">
              <a:spcAft>
                <a:spcPts val="400"/>
              </a:spcAft>
              <a:defRPr sz="1300">
                <a:solidFill>
                  <a:srgbClr val="FFFFFF"/>
                </a:solidFill>
                <a:latin typeface="Segoe UI"/>
              </a:defRPr>
            </a:pPr>
            <a:r>
              <a:t>Revision de base</a:t>
            </a:r>
          </a:p>
          <a:p>
            <a:pPr algn="ctr">
              <a:spcAft>
                <a:spcPts val="400"/>
              </a:spcAft>
              <a:defRPr sz="1300">
                <a:solidFill>
                  <a:srgbClr val="FFFFFF"/>
                </a:solidFill>
                <a:latin typeface="Segoe UI"/>
              </a:defRPr>
            </a:pPr>
            <a:r>
              <a:t>Soumission QBO</a:t>
            </a:r>
          </a:p>
        </p:txBody>
      </p:sp>
      <p:sp>
        <p:nvSpPr>
          <p:cNvPr id="10" name="Rounded Rectangle 9"/>
          <p:cNvSpPr/>
          <p:nvPr/>
        </p:nvSpPr>
        <p:spPr>
          <a:xfrm>
            <a:off x="3337560" y="2103120"/>
            <a:ext cx="2697480" cy="4206240"/>
          </a:xfrm>
          <a:prstGeom prst="roundRect">
            <a:avLst/>
          </a:prstGeom>
          <a:solidFill>
            <a:srgbClr val="182C50"/>
          </a:solidFill>
          <a:ln w="254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2240280"/>
            <a:ext cx="2423160" cy="365760"/>
          </a:xfrm>
          <a:prstGeom prst="rect">
            <a:avLst/>
          </a:prstGeom>
          <a:noFill/>
        </p:spPr>
        <p:txBody>
          <a:bodyPr wrap="none">
            <a:spAutoFit/>
          </a:bodyPr>
          <a:lstStyle/>
          <a:p>
            <a:pPr algn="ctr">
              <a:defRPr sz="1800" b="1">
                <a:solidFill>
                  <a:srgbClr val="2E75B6"/>
                </a:solidFill>
                <a:latin typeface="Segoe UI"/>
              </a:defRPr>
            </a:pPr>
            <a:r>
              <a:t>Professionnel</a:t>
            </a:r>
          </a:p>
        </p:txBody>
      </p:sp>
      <p:sp>
        <p:nvSpPr>
          <p:cNvPr id="12" name="TextBox 11"/>
          <p:cNvSpPr txBox="1"/>
          <p:nvPr/>
        </p:nvSpPr>
        <p:spPr>
          <a:xfrm>
            <a:off x="3474720" y="2606040"/>
            <a:ext cx="2423160" cy="640080"/>
          </a:xfrm>
          <a:prstGeom prst="rect">
            <a:avLst/>
          </a:prstGeom>
          <a:noFill/>
        </p:spPr>
        <p:txBody>
          <a:bodyPr wrap="none">
            <a:spAutoFit/>
          </a:bodyPr>
          <a:lstStyle/>
          <a:p>
            <a:pPr algn="ctr"/>
            <a:r>
              <a:rPr sz="3600" b="1">
                <a:solidFill>
                  <a:srgbClr val="FFFFFF"/>
                </a:solidFill>
                <a:latin typeface="Segoe UI"/>
              </a:rPr>
              <a:t>249$</a:t>
            </a:r>
            <a:r>
              <a:rPr sz="1600">
                <a:solidFill>
                  <a:srgbClr val="9DC3E6"/>
                </a:solidFill>
                <a:latin typeface="Segoe UI"/>
              </a:rPr>
              <a:t>/mois</a:t>
            </a:r>
          </a:p>
        </p:txBody>
      </p:sp>
      <p:sp>
        <p:nvSpPr>
          <p:cNvPr id="13" name="TextBox 12"/>
          <p:cNvSpPr txBox="1"/>
          <p:nvPr/>
        </p:nvSpPr>
        <p:spPr>
          <a:xfrm>
            <a:off x="3474720" y="3291840"/>
            <a:ext cx="2423160" cy="365760"/>
          </a:xfrm>
          <a:prstGeom prst="rect">
            <a:avLst/>
          </a:prstGeom>
          <a:noFill/>
        </p:spPr>
        <p:txBody>
          <a:bodyPr wrap="none">
            <a:spAutoFit/>
          </a:bodyPr>
          <a:lstStyle/>
          <a:p>
            <a:pPr algn="ctr">
              <a:defRPr sz="1300">
                <a:solidFill>
                  <a:srgbClr val="9DC3E6"/>
                </a:solidFill>
                <a:latin typeface="Segoe UI"/>
              </a:defRPr>
            </a:pPr>
            <a:r>
              <a:t>30 clients | 5 utilisateurs</a:t>
            </a:r>
          </a:p>
        </p:txBody>
      </p:sp>
      <p:sp>
        <p:nvSpPr>
          <p:cNvPr id="14" name="TextBox 13"/>
          <p:cNvSpPr txBox="1"/>
          <p:nvPr/>
        </p:nvSpPr>
        <p:spPr>
          <a:xfrm>
            <a:off x="3474720" y="3749040"/>
            <a:ext cx="2423160" cy="2286000"/>
          </a:xfrm>
          <a:prstGeom prst="rect">
            <a:avLst/>
          </a:prstGeom>
          <a:noFill/>
        </p:spPr>
        <p:txBody>
          <a:bodyPr wrap="square">
            <a:spAutoFit/>
          </a:bodyPr>
          <a:lstStyle/>
          <a:p>
            <a:pPr algn="ctr">
              <a:spcAft>
                <a:spcPts val="400"/>
              </a:spcAft>
              <a:defRPr sz="1300">
                <a:solidFill>
                  <a:srgbClr val="FFFFFF"/>
                </a:solidFill>
                <a:latin typeface="Segoe UI"/>
              </a:defRPr>
            </a:pPr>
            <a:r>
              <a:t>Routeur IA | Rapprochement</a:t>
            </a:r>
          </a:p>
          <a:p>
            <a:pPr algn="ctr">
              <a:spcAft>
                <a:spcPts val="400"/>
              </a:spcAft>
              <a:defRPr sz="1300">
                <a:solidFill>
                  <a:srgbClr val="FFFFFF"/>
                </a:solidFill>
                <a:latin typeface="Segoe UI"/>
              </a:defRPr>
            </a:pPr>
            <a:r>
              <a:t>Fraude | Revenu Quebec</a:t>
            </a:r>
          </a:p>
          <a:p>
            <a:pPr algn="ctr">
              <a:spcAft>
                <a:spcPts val="400"/>
              </a:spcAft>
              <a:defRPr sz="1300">
                <a:solidFill>
                  <a:srgbClr val="FFFFFF"/>
                </a:solidFill>
                <a:latin typeface="Segoe UI"/>
              </a:defRPr>
            </a:pPr>
            <a:r>
              <a:t>Suivi du temps</a:t>
            </a:r>
          </a:p>
        </p:txBody>
      </p:sp>
      <p:sp>
        <p:nvSpPr>
          <p:cNvPr id="15" name="Rounded Rectangle 14"/>
          <p:cNvSpPr/>
          <p:nvPr/>
        </p:nvSpPr>
        <p:spPr>
          <a:xfrm>
            <a:off x="6217920" y="2103120"/>
            <a:ext cx="2697480" cy="4206240"/>
          </a:xfrm>
          <a:prstGeom prst="roundRect">
            <a:avLst/>
          </a:prstGeom>
          <a:solidFill>
            <a:srgbClr val="182C50"/>
          </a:solidFill>
          <a:ln w="25400">
            <a:solidFill>
              <a:srgbClr val="406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2240280"/>
            <a:ext cx="2423160" cy="365760"/>
          </a:xfrm>
          <a:prstGeom prst="rect">
            <a:avLst/>
          </a:prstGeom>
          <a:noFill/>
        </p:spPr>
        <p:txBody>
          <a:bodyPr wrap="none">
            <a:spAutoFit/>
          </a:bodyPr>
          <a:lstStyle/>
          <a:p>
            <a:pPr algn="ctr">
              <a:defRPr sz="1800" b="1">
                <a:solidFill>
                  <a:srgbClr val="406090"/>
                </a:solidFill>
                <a:latin typeface="Segoe UI"/>
              </a:defRPr>
            </a:pPr>
            <a:r>
              <a:t>Cabinet</a:t>
            </a:r>
          </a:p>
        </p:txBody>
      </p:sp>
      <p:sp>
        <p:nvSpPr>
          <p:cNvPr id="17" name="TextBox 16"/>
          <p:cNvSpPr txBox="1"/>
          <p:nvPr/>
        </p:nvSpPr>
        <p:spPr>
          <a:xfrm>
            <a:off x="6355080" y="2606040"/>
            <a:ext cx="2423160" cy="640080"/>
          </a:xfrm>
          <a:prstGeom prst="rect">
            <a:avLst/>
          </a:prstGeom>
          <a:noFill/>
        </p:spPr>
        <p:txBody>
          <a:bodyPr wrap="none">
            <a:spAutoFit/>
          </a:bodyPr>
          <a:lstStyle/>
          <a:p>
            <a:pPr algn="ctr"/>
            <a:r>
              <a:rPr sz="3600" b="1">
                <a:solidFill>
                  <a:srgbClr val="FFFFFF"/>
                </a:solidFill>
                <a:latin typeface="Segoe UI"/>
              </a:rPr>
              <a:t>499$</a:t>
            </a:r>
            <a:r>
              <a:rPr sz="1600">
                <a:solidFill>
                  <a:srgbClr val="9DC3E6"/>
                </a:solidFill>
                <a:latin typeface="Segoe UI"/>
              </a:rPr>
              <a:t>/mois</a:t>
            </a:r>
          </a:p>
        </p:txBody>
      </p:sp>
      <p:sp>
        <p:nvSpPr>
          <p:cNvPr id="18" name="TextBox 17"/>
          <p:cNvSpPr txBox="1"/>
          <p:nvPr/>
        </p:nvSpPr>
        <p:spPr>
          <a:xfrm>
            <a:off x="6355080" y="3291840"/>
            <a:ext cx="2423160" cy="365760"/>
          </a:xfrm>
          <a:prstGeom prst="rect">
            <a:avLst/>
          </a:prstGeom>
          <a:noFill/>
        </p:spPr>
        <p:txBody>
          <a:bodyPr wrap="none">
            <a:spAutoFit/>
          </a:bodyPr>
          <a:lstStyle/>
          <a:p>
            <a:pPr algn="ctr">
              <a:defRPr sz="1300">
                <a:solidFill>
                  <a:srgbClr val="9DC3E6"/>
                </a:solidFill>
                <a:latin typeface="Segoe UI"/>
              </a:defRPr>
            </a:pPr>
            <a:r>
              <a:t>75 clients | 15 utilisateurs</a:t>
            </a:r>
          </a:p>
        </p:txBody>
      </p:sp>
      <p:sp>
        <p:nvSpPr>
          <p:cNvPr id="19" name="TextBox 18"/>
          <p:cNvSpPr txBox="1"/>
          <p:nvPr/>
        </p:nvSpPr>
        <p:spPr>
          <a:xfrm>
            <a:off x="6355080" y="3749040"/>
            <a:ext cx="2423160" cy="2286000"/>
          </a:xfrm>
          <a:prstGeom prst="rect">
            <a:avLst/>
          </a:prstGeom>
          <a:noFill/>
        </p:spPr>
        <p:txBody>
          <a:bodyPr wrap="square">
            <a:spAutoFit/>
          </a:bodyPr>
          <a:lstStyle/>
          <a:p>
            <a:pPr algn="ctr">
              <a:spcAft>
                <a:spcPts val="400"/>
              </a:spcAft>
              <a:defRPr sz="1300">
                <a:solidFill>
                  <a:srgbClr val="FFFFFF"/>
                </a:solidFill>
                <a:latin typeface="Segoe UI"/>
              </a:defRPr>
            </a:pPr>
            <a:r>
              <a:t>Analytique | Microsoft 365</a:t>
            </a:r>
          </a:p>
          <a:p>
            <a:pPr algn="ctr">
              <a:spcAft>
                <a:spcPts val="400"/>
              </a:spcAft>
              <a:defRPr sz="1300">
                <a:solidFill>
                  <a:srgbClr val="FFFFFF"/>
                </a:solidFill>
                <a:latin typeface="Segoe UI"/>
              </a:defRPr>
            </a:pPr>
            <a:r>
              <a:t>Calendrier de production</a:t>
            </a:r>
          </a:p>
          <a:p>
            <a:pPr algn="ctr">
              <a:spcAft>
                <a:spcPts val="400"/>
              </a:spcAft>
              <a:defRPr sz="1300">
                <a:solidFill>
                  <a:srgbClr val="FFFFFF"/>
                </a:solidFill>
                <a:latin typeface="Segoe UI"/>
              </a:defRPr>
            </a:pPr>
            <a:r>
              <a:t>Communications clients</a:t>
            </a:r>
          </a:p>
        </p:txBody>
      </p:sp>
      <p:sp>
        <p:nvSpPr>
          <p:cNvPr id="20" name="Rounded Rectangle 19"/>
          <p:cNvSpPr/>
          <p:nvPr/>
        </p:nvSpPr>
        <p:spPr>
          <a:xfrm>
            <a:off x="9098280" y="2103120"/>
            <a:ext cx="2697480" cy="4206240"/>
          </a:xfrm>
          <a:prstGeom prst="roundRect">
            <a:avLst/>
          </a:prstGeom>
          <a:solidFill>
            <a:srgbClr val="182C50"/>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0" y="2240280"/>
            <a:ext cx="2423160" cy="365760"/>
          </a:xfrm>
          <a:prstGeom prst="rect">
            <a:avLst/>
          </a:prstGeom>
          <a:noFill/>
        </p:spPr>
        <p:txBody>
          <a:bodyPr wrap="none">
            <a:spAutoFit/>
          </a:bodyPr>
          <a:lstStyle/>
          <a:p>
            <a:pPr algn="ctr">
              <a:defRPr sz="1800" b="1">
                <a:solidFill>
                  <a:srgbClr val="FFD700"/>
                </a:solidFill>
                <a:latin typeface="Segoe UI"/>
              </a:defRPr>
            </a:pPr>
            <a:r>
              <a:t>Entreprise</a:t>
            </a:r>
          </a:p>
        </p:txBody>
      </p:sp>
      <p:sp>
        <p:nvSpPr>
          <p:cNvPr id="22" name="TextBox 21"/>
          <p:cNvSpPr txBox="1"/>
          <p:nvPr/>
        </p:nvSpPr>
        <p:spPr>
          <a:xfrm>
            <a:off x="9235440" y="2606040"/>
            <a:ext cx="2423160" cy="640080"/>
          </a:xfrm>
          <a:prstGeom prst="rect">
            <a:avLst/>
          </a:prstGeom>
          <a:noFill/>
        </p:spPr>
        <p:txBody>
          <a:bodyPr wrap="none">
            <a:spAutoFit/>
          </a:bodyPr>
          <a:lstStyle/>
          <a:p>
            <a:pPr algn="ctr"/>
            <a:r>
              <a:rPr sz="3600" b="1">
                <a:solidFill>
                  <a:srgbClr val="FFFFFF"/>
                </a:solidFill>
                <a:latin typeface="Segoe UI"/>
              </a:rPr>
              <a:t>999$</a:t>
            </a:r>
            <a:r>
              <a:rPr sz="1600">
                <a:solidFill>
                  <a:srgbClr val="9DC3E6"/>
                </a:solidFill>
                <a:latin typeface="Segoe UI"/>
              </a:rPr>
              <a:t>/mois</a:t>
            </a:r>
          </a:p>
        </p:txBody>
      </p:sp>
      <p:sp>
        <p:nvSpPr>
          <p:cNvPr id="23" name="TextBox 22"/>
          <p:cNvSpPr txBox="1"/>
          <p:nvPr/>
        </p:nvSpPr>
        <p:spPr>
          <a:xfrm>
            <a:off x="9235440" y="3291840"/>
            <a:ext cx="2423160" cy="365760"/>
          </a:xfrm>
          <a:prstGeom prst="rect">
            <a:avLst/>
          </a:prstGeom>
          <a:noFill/>
        </p:spPr>
        <p:txBody>
          <a:bodyPr wrap="none">
            <a:spAutoFit/>
          </a:bodyPr>
          <a:lstStyle/>
          <a:p>
            <a:pPr algn="ctr">
              <a:defRPr sz="1300">
                <a:solidFill>
                  <a:srgbClr val="9DC3E6"/>
                </a:solidFill>
                <a:latin typeface="Segoe UI"/>
              </a:defRPr>
            </a:pPr>
            <a:r>
              <a:t>Illimite</a:t>
            </a:r>
          </a:p>
        </p:txBody>
      </p:sp>
      <p:sp>
        <p:nvSpPr>
          <p:cNvPr id="24" name="TextBox 23"/>
          <p:cNvSpPr txBox="1"/>
          <p:nvPr/>
        </p:nvSpPr>
        <p:spPr>
          <a:xfrm>
            <a:off x="9235440" y="3749040"/>
            <a:ext cx="2423160" cy="2286000"/>
          </a:xfrm>
          <a:prstGeom prst="rect">
            <a:avLst/>
          </a:prstGeom>
          <a:noFill/>
        </p:spPr>
        <p:txBody>
          <a:bodyPr wrap="square">
            <a:spAutoFit/>
          </a:bodyPr>
          <a:lstStyle/>
          <a:p>
            <a:pPr algn="ctr">
              <a:spcAft>
                <a:spcPts val="400"/>
              </a:spcAft>
              <a:defRPr sz="1300">
                <a:solidFill>
                  <a:srgbClr val="FFFFFF"/>
                </a:solidFill>
                <a:latin typeface="Segoe UI"/>
              </a:defRPr>
            </a:pPr>
            <a:r>
              <a:t>Module d'audit complet</a:t>
            </a:r>
          </a:p>
          <a:p>
            <a:pPr algn="ctr">
              <a:spcAft>
                <a:spcPts val="400"/>
              </a:spcAft>
              <a:defRPr sz="1300">
                <a:solidFill>
                  <a:srgbClr val="FFFFFF"/>
                </a:solidFill>
                <a:latin typeface="Segoe UI"/>
              </a:defRPr>
            </a:pPr>
            <a:r>
              <a:t>Etats financiers</a:t>
            </a:r>
          </a:p>
          <a:p>
            <a:pPr algn="ctr">
              <a:spcAft>
                <a:spcPts val="400"/>
              </a:spcAft>
              <a:defRPr sz="1300">
                <a:solidFill>
                  <a:srgbClr val="FFFFFF"/>
                </a:solidFill>
                <a:latin typeface="Segoe UI"/>
              </a:defRPr>
            </a:pPr>
            <a:r>
              <a:t>Echantillonnage | API</a:t>
            </a:r>
          </a:p>
        </p:txBody>
      </p:sp>
      <p:sp>
        <p:nvSpPr>
          <p:cNvPr id="25" name="TextBox 24"/>
          <p:cNvSpPr txBox="1"/>
          <p:nvPr/>
        </p:nvSpPr>
        <p:spPr>
          <a:xfrm>
            <a:off x="640080" y="6400800"/>
            <a:ext cx="10515600" cy="3657600"/>
          </a:xfrm>
          <a:prstGeom prst="rect">
            <a:avLst/>
          </a:prstGeom>
          <a:noFill/>
        </p:spPr>
        <p:txBody>
          <a:bodyPr wrap="square">
            <a:spAutoFit/>
          </a:bodyPr>
          <a:lstStyle/>
          <a:p>
            <a:pPr>
              <a:spcAft>
                <a:spcPts val="800"/>
              </a:spcAft>
              <a:defRPr sz="1600" b="0">
                <a:solidFill>
                  <a:srgbClr val="9DC3E6"/>
                </a:solidFill>
                <a:latin typeface="Segoe UI"/>
              </a:defRPr>
            </a:pPr>
            <a:r>
              <a:t>Frais d'installation : 500$ - 1 000$ (une fois) --- installation, configuration, formation, migration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sp>
        <p:nvSpPr>
          <p:cNvPr id="2" name="TextBox 1"/>
          <p:cNvSpPr txBox="1"/>
          <p:nvPr/>
        </p:nvSpPr>
        <p:spPr>
          <a:xfrm>
            <a:off x="365760" y="228600"/>
            <a:ext cx="2286000" cy="365760"/>
          </a:xfrm>
          <a:prstGeom prst="rect">
            <a:avLst/>
          </a:prstGeom>
          <a:noFill/>
        </p:spPr>
        <p:txBody>
          <a:bodyPr wrap="none">
            <a:spAutoFit/>
          </a:bodyPr>
          <a:lstStyle/>
          <a:p>
            <a:r>
              <a:rPr sz="1400" b="1">
                <a:solidFill>
                  <a:srgbClr val="FFFFFF"/>
                </a:solidFill>
                <a:latin typeface="Segoe UI"/>
              </a:rPr>
              <a:t>LedgerLink</a:t>
            </a:r>
            <a:r>
              <a:rPr sz="1400" b="1">
                <a:solidFill>
                  <a:srgbClr val="FFD700"/>
                </a:solidFill>
                <a:latin typeface="Segoe UI"/>
              </a:rPr>
              <a:t> AI</a:t>
            </a:r>
          </a:p>
        </p:txBody>
      </p:sp>
      <p:sp>
        <p:nvSpPr>
          <p:cNvPr id="3" name="TextBox 2"/>
          <p:cNvSpPr txBox="1"/>
          <p:nvPr/>
        </p:nvSpPr>
        <p:spPr>
          <a:xfrm>
            <a:off x="640080" y="914400"/>
            <a:ext cx="10972800" cy="1097280"/>
          </a:xfrm>
          <a:prstGeom prst="rect">
            <a:avLst/>
          </a:prstGeom>
          <a:noFill/>
        </p:spPr>
        <p:txBody>
          <a:bodyPr wrap="square">
            <a:spAutoFit/>
          </a:bodyPr>
          <a:lstStyle/>
          <a:p>
            <a:pPr algn="l">
              <a:defRPr sz="3400" b="1">
                <a:solidFill>
                  <a:srgbClr val="FFFFFF"/>
                </a:solidFill>
                <a:latin typeface="Segoe UI"/>
              </a:defRPr>
            </a:pPr>
            <a:r>
              <a:t>Voici comment on commence :</a:t>
            </a:r>
          </a:p>
        </p:txBody>
      </p:sp>
      <p:sp>
        <p:nvSpPr>
          <p:cNvPr id="4" name="Rectangle 3"/>
          <p:cNvSpPr/>
          <p:nvPr/>
        </p:nvSpPr>
        <p:spPr>
          <a:xfrm>
            <a:off x="640080" y="1691640"/>
            <a:ext cx="1828800" cy="508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828800" y="2377440"/>
            <a:ext cx="731520" cy="73152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Segoe UI"/>
              </a:defRPr>
            </a:pPr>
            <a:r>
              <a:t>1</a:t>
            </a:r>
          </a:p>
        </p:txBody>
      </p:sp>
      <p:sp>
        <p:nvSpPr>
          <p:cNvPr id="6" name="TextBox 5"/>
          <p:cNvSpPr txBox="1"/>
          <p:nvPr/>
        </p:nvSpPr>
        <p:spPr>
          <a:xfrm>
            <a:off x="731520" y="3291840"/>
            <a:ext cx="3291840" cy="548640"/>
          </a:xfrm>
          <a:prstGeom prst="rect">
            <a:avLst/>
          </a:prstGeom>
          <a:noFill/>
        </p:spPr>
        <p:txBody>
          <a:bodyPr wrap="square">
            <a:spAutoFit/>
          </a:bodyPr>
          <a:lstStyle/>
          <a:p>
            <a:pPr algn="ctr">
              <a:defRPr sz="2200" b="1">
                <a:solidFill>
                  <a:srgbClr val="2E75B6"/>
                </a:solidFill>
                <a:latin typeface="Segoe UI"/>
              </a:defRPr>
            </a:pPr>
            <a:r>
              <a:t>Demo aujourd'hui</a:t>
            </a:r>
          </a:p>
        </p:txBody>
      </p:sp>
      <p:sp>
        <p:nvSpPr>
          <p:cNvPr id="7" name="TextBox 6"/>
          <p:cNvSpPr txBox="1"/>
          <p:nvPr/>
        </p:nvSpPr>
        <p:spPr>
          <a:xfrm>
            <a:off x="731520" y="3931920"/>
            <a:ext cx="3291840" cy="1828800"/>
          </a:xfrm>
          <a:prstGeom prst="rect">
            <a:avLst/>
          </a:prstGeom>
          <a:noFill/>
        </p:spPr>
        <p:txBody>
          <a:bodyPr wrap="square">
            <a:spAutoFit/>
          </a:bodyPr>
          <a:lstStyle/>
          <a:p>
            <a:pPr algn="ctr">
              <a:defRPr sz="1700">
                <a:solidFill>
                  <a:srgbClr val="FFFFFF"/>
                </a:solidFill>
                <a:latin typeface="Segoe UI"/>
              </a:defRPr>
            </a:pPr>
            <a:r>
              <a:t>15 minutes. Je vous montre le vrai logiciel.</a:t>
            </a:r>
          </a:p>
          <a:p>
            <a:pPr algn="ctr">
              <a:defRPr sz="1700">
                <a:solidFill>
                  <a:srgbClr val="FFFFFF"/>
                </a:solidFill>
                <a:latin typeface="Segoe UI"/>
              </a:defRPr>
            </a:pPr>
            <a:r>
              <a:t>Pas de PowerPoint. Des vrais documents.</a:t>
            </a:r>
          </a:p>
        </p:txBody>
      </p:sp>
      <p:sp>
        <p:nvSpPr>
          <p:cNvPr id="8" name="Oval 7"/>
          <p:cNvSpPr/>
          <p:nvPr/>
        </p:nvSpPr>
        <p:spPr>
          <a:xfrm>
            <a:off x="5577839" y="2377440"/>
            <a:ext cx="731520" cy="731520"/>
          </a:xfrm>
          <a:prstGeom prst="ellipse">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Segoe UI"/>
              </a:defRPr>
            </a:pPr>
            <a:r>
              <a:t>2</a:t>
            </a:r>
          </a:p>
        </p:txBody>
      </p:sp>
      <p:sp>
        <p:nvSpPr>
          <p:cNvPr id="9" name="TextBox 8"/>
          <p:cNvSpPr txBox="1"/>
          <p:nvPr/>
        </p:nvSpPr>
        <p:spPr>
          <a:xfrm>
            <a:off x="4480559" y="3291840"/>
            <a:ext cx="3291840" cy="548640"/>
          </a:xfrm>
          <a:prstGeom prst="rect">
            <a:avLst/>
          </a:prstGeom>
          <a:noFill/>
        </p:spPr>
        <p:txBody>
          <a:bodyPr wrap="square">
            <a:spAutoFit/>
          </a:bodyPr>
          <a:lstStyle/>
          <a:p>
            <a:pPr algn="ctr">
              <a:defRPr sz="2200" b="1">
                <a:solidFill>
                  <a:srgbClr val="00B050"/>
                </a:solidFill>
                <a:latin typeface="Segoe UI"/>
              </a:defRPr>
            </a:pPr>
            <a:r>
              <a:t>Pilote gratuit --- 30 jours</a:t>
            </a:r>
          </a:p>
        </p:txBody>
      </p:sp>
      <p:sp>
        <p:nvSpPr>
          <p:cNvPr id="10" name="TextBox 9"/>
          <p:cNvSpPr txBox="1"/>
          <p:nvPr/>
        </p:nvSpPr>
        <p:spPr>
          <a:xfrm>
            <a:off x="4480559" y="3931920"/>
            <a:ext cx="3291840" cy="1828800"/>
          </a:xfrm>
          <a:prstGeom prst="rect">
            <a:avLst/>
          </a:prstGeom>
          <a:noFill/>
        </p:spPr>
        <p:txBody>
          <a:bodyPr wrap="square">
            <a:spAutoFit/>
          </a:bodyPr>
          <a:lstStyle/>
          <a:p>
            <a:pPr algn="ctr">
              <a:defRPr sz="1700">
                <a:solidFill>
                  <a:srgbClr val="FFFFFF"/>
                </a:solidFill>
                <a:latin typeface="Segoe UI"/>
              </a:defRPr>
            </a:pPr>
            <a:r>
              <a:t>5 clients de votre choix. Voyez les resultats vous-meme.</a:t>
            </a:r>
          </a:p>
          <a:p>
            <a:pPr algn="ctr">
              <a:defRPr sz="1700">
                <a:solidFill>
                  <a:srgbClr val="FFFFFF"/>
                </a:solidFill>
                <a:latin typeface="Segoe UI"/>
              </a:defRPr>
            </a:pPr>
            <a:r>
              <a:t>Aucune obligation. Aucun paiement.</a:t>
            </a:r>
          </a:p>
        </p:txBody>
      </p:sp>
      <p:sp>
        <p:nvSpPr>
          <p:cNvPr id="11" name="Oval 10"/>
          <p:cNvSpPr/>
          <p:nvPr/>
        </p:nvSpPr>
        <p:spPr>
          <a:xfrm>
            <a:off x="9326880" y="2377440"/>
            <a:ext cx="731520" cy="73152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1F3864"/>
                </a:solidFill>
                <a:latin typeface="Segoe UI"/>
              </a:defRPr>
            </a:pPr>
            <a:r>
              <a:t>3</a:t>
            </a:r>
          </a:p>
        </p:txBody>
      </p:sp>
      <p:sp>
        <p:nvSpPr>
          <p:cNvPr id="12" name="TextBox 11"/>
          <p:cNvSpPr txBox="1"/>
          <p:nvPr/>
        </p:nvSpPr>
        <p:spPr>
          <a:xfrm>
            <a:off x="8229600" y="3291840"/>
            <a:ext cx="3291840" cy="548640"/>
          </a:xfrm>
          <a:prstGeom prst="rect">
            <a:avLst/>
          </a:prstGeom>
          <a:noFill/>
        </p:spPr>
        <p:txBody>
          <a:bodyPr wrap="square">
            <a:spAutoFit/>
          </a:bodyPr>
          <a:lstStyle/>
          <a:p>
            <a:pPr algn="ctr">
              <a:defRPr sz="2200" b="1">
                <a:solidFill>
                  <a:srgbClr val="FFD700"/>
                </a:solidFill>
                <a:latin typeface="Segoe UI"/>
              </a:defRPr>
            </a:pPr>
            <a:r>
              <a:t>Decision</a:t>
            </a:r>
          </a:p>
        </p:txBody>
      </p:sp>
      <p:sp>
        <p:nvSpPr>
          <p:cNvPr id="13" name="TextBox 12"/>
          <p:cNvSpPr txBox="1"/>
          <p:nvPr/>
        </p:nvSpPr>
        <p:spPr>
          <a:xfrm>
            <a:off x="8229600" y="3931920"/>
            <a:ext cx="3291840" cy="1828800"/>
          </a:xfrm>
          <a:prstGeom prst="rect">
            <a:avLst/>
          </a:prstGeom>
          <a:noFill/>
        </p:spPr>
        <p:txBody>
          <a:bodyPr wrap="square">
            <a:spAutoFit/>
          </a:bodyPr>
          <a:lstStyle/>
          <a:p>
            <a:pPr algn="ctr">
              <a:defRPr sz="1700">
                <a:solidFill>
                  <a:srgbClr val="FFFFFF"/>
                </a:solidFill>
                <a:latin typeface="Segoe UI"/>
              </a:defRPr>
            </a:pPr>
            <a:r>
              <a:t>Vous decidez si ca vous fait gagner du temps.</a:t>
            </a:r>
          </a:p>
          <a:p>
            <a:pPr algn="ctr">
              <a:defRPr sz="1700">
                <a:solidFill>
                  <a:srgbClr val="FFFFFF"/>
                </a:solidFill>
                <a:latin typeface="Segoe UI"/>
              </a:defRPr>
            </a:pPr>
            <a:r>
              <a:t>Pas de pression. Juste des resultats.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sp>
        <p:nvSpPr>
          <p:cNvPr id="2" name="TextBox 1"/>
          <p:cNvSpPr txBox="1"/>
          <p:nvPr/>
        </p:nvSpPr>
        <p:spPr>
          <a:xfrm>
            <a:off x="365760" y="228600"/>
            <a:ext cx="2286000" cy="365760"/>
          </a:xfrm>
          <a:prstGeom prst="rect">
            <a:avLst/>
          </a:prstGeom>
          <a:noFill/>
        </p:spPr>
        <p:txBody>
          <a:bodyPr wrap="none">
            <a:spAutoFit/>
          </a:bodyPr>
          <a:lstStyle/>
          <a:p>
            <a:r>
              <a:rPr sz="1400" b="1">
                <a:solidFill>
                  <a:srgbClr val="FFFFFF"/>
                </a:solidFill>
                <a:latin typeface="Segoe UI"/>
              </a:rPr>
              <a:t>LedgerLink</a:t>
            </a:r>
            <a:r>
              <a:rPr sz="1400" b="1">
                <a:solidFill>
                  <a:srgbClr val="FFD700"/>
                </a:solidFill>
                <a:latin typeface="Segoe UI"/>
              </a:rPr>
              <a:t> AI</a:t>
            </a:r>
          </a:p>
        </p:txBody>
      </p:sp>
      <p:sp>
        <p:nvSpPr>
          <p:cNvPr id="3" name="TextBox 2"/>
          <p:cNvSpPr txBox="1"/>
          <p:nvPr/>
        </p:nvSpPr>
        <p:spPr>
          <a:xfrm>
            <a:off x="640080" y="914400"/>
            <a:ext cx="10972800" cy="1097280"/>
          </a:xfrm>
          <a:prstGeom prst="rect">
            <a:avLst/>
          </a:prstGeom>
          <a:noFill/>
        </p:spPr>
        <p:txBody>
          <a:bodyPr wrap="square">
            <a:spAutoFit/>
          </a:bodyPr>
          <a:lstStyle/>
          <a:p>
            <a:pPr algn="l">
              <a:defRPr sz="3200" b="1">
                <a:solidFill>
                  <a:srgbClr val="FFFFFF"/>
                </a:solidFill>
                <a:latin typeface="Segoe UI"/>
              </a:defRPr>
            </a:pPr>
            <a:r>
              <a:t>Resultats de tests independants</a:t>
            </a:r>
          </a:p>
        </p:txBody>
      </p:sp>
      <p:sp>
        <p:nvSpPr>
          <p:cNvPr id="4" name="Rectangle 3"/>
          <p:cNvSpPr/>
          <p:nvPr/>
        </p:nvSpPr>
        <p:spPr>
          <a:xfrm>
            <a:off x="640080" y="1691640"/>
            <a:ext cx="1828800" cy="508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2286000"/>
            <a:ext cx="2697480" cy="2011680"/>
          </a:xfrm>
          <a:prstGeom prst="roundRect">
            <a:avLst/>
          </a:prstGeom>
          <a:solidFill>
            <a:srgbClr val="182C50"/>
          </a:solidFill>
          <a:ln w="2540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400" b="1">
                <a:solidFill>
                  <a:srgbClr val="FFD700"/>
                </a:solidFill>
                <a:latin typeface="Segoe UI"/>
              </a:defRPr>
            </a:pPr>
            <a:r>
              <a:t>2 853</a:t>
            </a:r>
          </a:p>
          <a:p>
            <a:pPr algn="ctr">
              <a:defRPr sz="1700">
                <a:solidFill>
                  <a:srgbClr val="FFFFFF"/>
                </a:solidFill>
                <a:latin typeface="Segoe UI"/>
              </a:defRPr>
            </a:pPr>
            <a:r>
              <a:t>tests automatises</a:t>
            </a:r>
            <a:br/>
            <a:r>
              <a:t>0 echec</a:t>
            </a:r>
          </a:p>
        </p:txBody>
      </p:sp>
      <p:sp>
        <p:nvSpPr>
          <p:cNvPr id="6" name="Rounded Rectangle 5"/>
          <p:cNvSpPr/>
          <p:nvPr/>
        </p:nvSpPr>
        <p:spPr>
          <a:xfrm>
            <a:off x="3337560" y="2286000"/>
            <a:ext cx="2697480" cy="2011680"/>
          </a:xfrm>
          <a:prstGeom prst="roundRect">
            <a:avLst/>
          </a:prstGeom>
          <a:solidFill>
            <a:srgbClr val="182C50"/>
          </a:solidFill>
          <a:ln w="2540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400" b="1">
                <a:solidFill>
                  <a:srgbClr val="FFD700"/>
                </a:solidFill>
                <a:latin typeface="Segoe UI"/>
              </a:defRPr>
            </a:pPr>
            <a:r>
              <a:t>147/147</a:t>
            </a:r>
          </a:p>
          <a:p>
            <a:pPr algn="ctr">
              <a:defRPr sz="1700">
                <a:solidFill>
                  <a:srgbClr val="FFFFFF"/>
                </a:solidFill>
                <a:latin typeface="Segoe UI"/>
              </a:defRPr>
            </a:pPr>
            <a:r>
              <a:t>tests adversariaux</a:t>
            </a:r>
            <a:br/>
            <a:r>
              <a:t>'red team' passes</a:t>
            </a:r>
          </a:p>
        </p:txBody>
      </p:sp>
      <p:sp>
        <p:nvSpPr>
          <p:cNvPr id="7" name="Rounded Rectangle 6"/>
          <p:cNvSpPr/>
          <p:nvPr/>
        </p:nvSpPr>
        <p:spPr>
          <a:xfrm>
            <a:off x="6217920" y="2286000"/>
            <a:ext cx="2697480" cy="2011680"/>
          </a:xfrm>
          <a:prstGeom prst="roundRect">
            <a:avLst/>
          </a:prstGeom>
          <a:solidFill>
            <a:srgbClr val="182C50"/>
          </a:solidFill>
          <a:ln w="2540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400" b="1">
                <a:solidFill>
                  <a:srgbClr val="FFD700"/>
                </a:solidFill>
                <a:latin typeface="Segoe UI"/>
              </a:defRPr>
            </a:pPr>
            <a:r>
              <a:t>100/100</a:t>
            </a:r>
          </a:p>
          <a:p>
            <a:pPr algn="ctr">
              <a:defRPr sz="1700">
                <a:solidFill>
                  <a:srgbClr val="FFFFFF"/>
                </a:solidFill>
                <a:latin typeface="Segoe UI"/>
              </a:defRPr>
            </a:pPr>
            <a:r>
              <a:t>score de preparedness</a:t>
            </a:r>
            <a:br/>
            <a:r>
              <a:t>production</a:t>
            </a:r>
          </a:p>
        </p:txBody>
      </p:sp>
      <p:sp>
        <p:nvSpPr>
          <p:cNvPr id="8" name="Rounded Rectangle 7"/>
          <p:cNvSpPr/>
          <p:nvPr/>
        </p:nvSpPr>
        <p:spPr>
          <a:xfrm>
            <a:off x="9098280" y="2286000"/>
            <a:ext cx="2697480" cy="2011680"/>
          </a:xfrm>
          <a:prstGeom prst="roundRect">
            <a:avLst/>
          </a:prstGeom>
          <a:solidFill>
            <a:srgbClr val="182C50"/>
          </a:solidFill>
          <a:ln w="2540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400" b="1">
                <a:solidFill>
                  <a:srgbClr val="FFD700"/>
                </a:solidFill>
                <a:latin typeface="Segoe UI"/>
              </a:defRPr>
            </a:pPr>
            <a:r>
              <a:t>0</a:t>
            </a:r>
          </a:p>
          <a:p>
            <a:pPr algn="ctr">
              <a:defRPr sz="1700">
                <a:solidFill>
                  <a:srgbClr val="FFFFFF"/>
                </a:solidFill>
                <a:latin typeface="Segoe UI"/>
              </a:defRPr>
            </a:pPr>
            <a:r>
              <a:t>erreur de calcul</a:t>
            </a:r>
            <a:br/>
            <a:r>
              <a:t>de taxe</a:t>
            </a:r>
          </a:p>
        </p:txBody>
      </p:sp>
      <p:sp>
        <p:nvSpPr>
          <p:cNvPr id="9" name="TextBox 8"/>
          <p:cNvSpPr txBox="1"/>
          <p:nvPr/>
        </p:nvSpPr>
        <p:spPr>
          <a:xfrm>
            <a:off x="1828800" y="4754880"/>
            <a:ext cx="8229600" cy="457200"/>
          </a:xfrm>
          <a:prstGeom prst="rect">
            <a:avLst/>
          </a:prstGeom>
          <a:noFill/>
        </p:spPr>
        <p:txBody>
          <a:bodyPr wrap="none">
            <a:spAutoFit/>
          </a:bodyPr>
          <a:lstStyle/>
          <a:p>
            <a:pPr algn="ctr"/>
            <a:r>
              <a:rPr sz="1800">
                <a:solidFill>
                  <a:srgbClr val="00B050"/>
                </a:solidFill>
                <a:latin typeface="Segoe UI"/>
              </a:rPr>
              <a:t>  </a:t>
            </a:r>
            <a:r>
              <a:rPr sz="1800">
                <a:solidFill>
                  <a:srgbClr val="9DC3E6"/>
                </a:solidFill>
                <a:latin typeface="Segoe UI"/>
              </a:rPr>
              <a:t>8,5/10 en exactitude fiscale canadienne</a:t>
            </a:r>
          </a:p>
        </p:txBody>
      </p:sp>
      <p:sp>
        <p:nvSpPr>
          <p:cNvPr id="10" name="TextBox 9"/>
          <p:cNvSpPr txBox="1"/>
          <p:nvPr/>
        </p:nvSpPr>
        <p:spPr>
          <a:xfrm>
            <a:off x="1828800" y="5257800"/>
            <a:ext cx="8229600" cy="457200"/>
          </a:xfrm>
          <a:prstGeom prst="rect">
            <a:avLst/>
          </a:prstGeom>
          <a:noFill/>
        </p:spPr>
        <p:txBody>
          <a:bodyPr wrap="none">
            <a:spAutoFit/>
          </a:bodyPr>
          <a:lstStyle/>
          <a:p>
            <a:pPr algn="ctr"/>
            <a:r>
              <a:rPr sz="1800">
                <a:solidFill>
                  <a:srgbClr val="00B050"/>
                </a:solidFill>
                <a:latin typeface="Segoe UI"/>
              </a:rPr>
              <a:t>  </a:t>
            </a:r>
            <a:r>
              <a:rPr sz="1800">
                <a:solidFill>
                  <a:srgbClr val="9DC3E6"/>
                </a:solidFill>
                <a:latin typeface="Segoe UI"/>
              </a:rPr>
              <a:t>13 regles de detection de fraude connectees au pipeline</a:t>
            </a:r>
          </a:p>
        </p:txBody>
      </p:sp>
      <p:sp>
        <p:nvSpPr>
          <p:cNvPr id="11" name="TextBox 10"/>
          <p:cNvSpPr txBox="1"/>
          <p:nvPr/>
        </p:nvSpPr>
        <p:spPr>
          <a:xfrm>
            <a:off x="1828800" y="5760720"/>
            <a:ext cx="8229600" cy="457200"/>
          </a:xfrm>
          <a:prstGeom prst="rect">
            <a:avLst/>
          </a:prstGeom>
          <a:noFill/>
        </p:spPr>
        <p:txBody>
          <a:bodyPr wrap="none">
            <a:spAutoFit/>
          </a:bodyPr>
          <a:lstStyle/>
          <a:p>
            <a:pPr algn="ctr"/>
            <a:r>
              <a:rPr sz="1800">
                <a:solidFill>
                  <a:srgbClr val="00B050"/>
                </a:solidFill>
                <a:latin typeface="Segoe UI"/>
              </a:rPr>
              <a:t>  </a:t>
            </a:r>
            <a:r>
              <a:rPr sz="1800">
                <a:solidFill>
                  <a:srgbClr val="9DC3E6"/>
                </a:solidFill>
                <a:latin typeface="Segoe UI"/>
              </a:rPr>
              <a:t>100% parite bilingue (FR/EN) --- terminologie CPA verifiee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sp>
        <p:nvSpPr>
          <p:cNvPr id="2" name="TextBox 1"/>
          <p:cNvSpPr txBox="1"/>
          <p:nvPr/>
        </p:nvSpPr>
        <p:spPr>
          <a:xfrm>
            <a:off x="914400" y="1097280"/>
            <a:ext cx="10058400" cy="914400"/>
          </a:xfrm>
          <a:prstGeom prst="rect">
            <a:avLst/>
          </a:prstGeom>
          <a:noFill/>
        </p:spPr>
        <p:txBody>
          <a:bodyPr wrap="none">
            <a:spAutoFit/>
          </a:bodyPr>
          <a:lstStyle/>
          <a:p>
            <a:pPr algn="ctr"/>
            <a:r>
              <a:rPr sz="5200" b="1">
                <a:solidFill>
                  <a:srgbClr val="FFFFFF"/>
                </a:solidFill>
                <a:latin typeface="Segoe UI"/>
              </a:rPr>
              <a:t>LedgerLink</a:t>
            </a:r>
            <a:r>
              <a:rPr sz="5200" b="1">
                <a:solidFill>
                  <a:srgbClr val="FFD700"/>
                </a:solidFill>
                <a:latin typeface="Segoe UI"/>
              </a:rPr>
              <a:t> AI</a:t>
            </a:r>
          </a:p>
        </p:txBody>
      </p:sp>
      <p:sp>
        <p:nvSpPr>
          <p:cNvPr id="3" name="TextBox 2"/>
          <p:cNvSpPr txBox="1"/>
          <p:nvPr/>
        </p:nvSpPr>
        <p:spPr>
          <a:xfrm>
            <a:off x="914400" y="2286000"/>
            <a:ext cx="10058400" cy="914400"/>
          </a:xfrm>
          <a:prstGeom prst="rect">
            <a:avLst/>
          </a:prstGeom>
          <a:noFill/>
        </p:spPr>
        <p:txBody>
          <a:bodyPr wrap="none">
            <a:spAutoFit/>
          </a:bodyPr>
          <a:lstStyle/>
          <a:p>
            <a:pPr algn="ctr">
              <a:defRPr sz="3400" b="1">
                <a:solidFill>
                  <a:srgbClr val="FFD700"/>
                </a:solidFill>
                <a:latin typeface="Segoe UI"/>
              </a:defRPr>
            </a:pPr>
            <a:r>
              <a:t>Pret a recuperer 150 heures par mois?</a:t>
            </a:r>
          </a:p>
        </p:txBody>
      </p:sp>
      <p:sp>
        <p:nvSpPr>
          <p:cNvPr id="4" name="Rectangle 3"/>
          <p:cNvSpPr/>
          <p:nvPr/>
        </p:nvSpPr>
        <p:spPr>
          <a:xfrm>
            <a:off x="4572000" y="338328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3657600"/>
            <a:ext cx="8229600" cy="2743200"/>
          </a:xfrm>
          <a:prstGeom prst="rect">
            <a:avLst/>
          </a:prstGeom>
          <a:noFill/>
        </p:spPr>
        <p:txBody>
          <a:bodyPr wrap="square">
            <a:spAutoFit/>
          </a:bodyPr>
          <a:lstStyle/>
          <a:p>
            <a:pPr algn="ctr">
              <a:defRPr sz="2200">
                <a:solidFill>
                  <a:srgbClr val="FFFFFF"/>
                </a:solidFill>
                <a:latin typeface="Segoe UI"/>
              </a:defRPr>
            </a:pPr>
            <a:r>
              <a:t>[Votre nom]</a:t>
            </a:r>
          </a:p>
          <a:p>
            <a:pPr algn="ctr">
              <a:defRPr sz="2200">
                <a:solidFill>
                  <a:srgbClr val="FFFFFF"/>
                </a:solidFill>
                <a:latin typeface="Segoe UI"/>
              </a:defRPr>
            </a:pPr>
            <a:r>
              <a:t>[Votre titre]</a:t>
            </a:r>
          </a:p>
          <a:p>
            <a:pPr algn="ctr">
              <a:defRPr sz="2200">
                <a:solidFill>
                  <a:srgbClr val="FFFFFF"/>
                </a:solidFill>
                <a:latin typeface="Segoe UI"/>
              </a:defRPr>
            </a:pPr>
            <a:r>
              <a:t>[votre.nom]@ledgerlink.ca</a:t>
            </a:r>
          </a:p>
          <a:p>
            <a:pPr algn="ctr">
              <a:defRPr sz="2200">
                <a:solidFill>
                  <a:srgbClr val="FFFFFF"/>
                </a:solidFill>
                <a:latin typeface="Segoe UI"/>
              </a:defRPr>
            </a:pPr>
            <a:r>
              <a:t>[Numero de telephone]</a:t>
            </a:r>
          </a:p>
          <a:p>
            <a:pPr algn="ctr">
              <a:defRPr sz="2600" b="1">
                <a:solidFill>
                  <a:srgbClr val="9DC3E6"/>
                </a:solidFill>
                <a:latin typeface="Segoe UI"/>
              </a:defRPr>
            </a:pPr>
          </a:p>
          <a:p>
            <a:pPr algn="ctr">
              <a:defRPr sz="2600" b="1">
                <a:solidFill>
                  <a:srgbClr val="9DC3E6"/>
                </a:solidFill>
                <a:latin typeface="Segoe UI"/>
              </a:defRPr>
            </a:pPr>
            <a:r>
              <a:t>Reservez une demo : ledgerlink.ca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