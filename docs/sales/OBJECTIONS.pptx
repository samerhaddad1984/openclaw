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Regle #1: Chaque objection est une question deguisee. Trouvez la question. Repondez-y.</a:t>
            </a:r>
          </a:p>
          <a:p>
            <a:r>
              <a:t>Regle #2: Ne discutez jamais. Reconnaissez, recadrez, repondez.</a:t>
            </a:r>
          </a:p>
          <a:p>
            <a:r>
              <a:t>Regle #3: Apres votre reponse, posez une question. Avancez.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methode pour TOUTE objection non listee. Reconnaitre, recadrer, repondre, avancer.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Objection: "On utilise deja TaxDome / Karbon / CaseWare"</a:t>
            </a:r>
          </a:p>
          <a:p>
            <a:r>
              <a:t>Ils pensent: Ils ont deja investi du temps et de l'argent ailleurs.</a:t>
            </a:r>
          </a:p>
          <a:p>
            <a:r>
              <a:t>Reponse: "Comment ca se passe avec [leur outil]? Est-ce que la saisie est vraiment automatisee?"</a:t>
            </a:r>
          </a:p>
          <a:p>
            <a:r>
              <a:t>LedgerLink ne remplace pas [outil]. Il s'ajoute en amont.</a:t>
            </a:r>
          </a:p>
          <a:p>
            <a:r>
              <a:t>[Outil] gere le flux de travail. LedgerLink elimine la saisie.</a:t>
            </a:r>
          </a:p>
          <a:p>
            <a:r>
              <a:t>Les deux peuvent coexister.</a:t>
            </a:r>
          </a:p>
          <a:p>
            <a:r>
              <a:t>Concluez: "Ca vaudrait la peine de voir comment les deux fonctionnent ensemble?"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Objection: "C'est trop cher"</a:t>
            </a:r>
          </a:p>
          <a:p>
            <a:r>
              <a:t>Ils pensent: Ils ne voient pas assez de valeur. Ou doivent justifier a un associe.</a:t>
            </a:r>
          </a:p>
          <a:p>
            <a:r>
              <a:t>Reponse: "Je comprends. Regardons les chiffres ensemble."</a:t>
            </a:r>
          </a:p>
          <a:p>
            <a:r>
              <a:t>[X] clients x [Y]h de saisie = [Z]h/mois</a:t>
            </a:r>
          </a:p>
          <a:p>
            <a:r>
              <a:t>A 150$/h = [$$] de capacite</a:t>
            </a:r>
          </a:p>
          <a:p>
            <a:r>
              <a:t>LedgerLink = 249$/mois = 1.7% du temps recupere</a:t>
            </a:r>
          </a:p>
          <a:p>
            <a:r>
              <a:t>= Rentable en moins de 2 heures</a:t>
            </a:r>
          </a:p>
          <a:p>
            <a:r>
              <a:t>Concluez: "On offre un pilote de 30 jours gratuit. Vous testez, vous mesurez, vous decidez."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Objection: "On n'a pas le temps d'implanter"</a:t>
            </a:r>
          </a:p>
          <a:p>
            <a:r>
              <a:t>Ils pensent: Ils sont deja submerges. Un logiciel de plus les effraie.</a:t>
            </a:r>
          </a:p>
          <a:p>
            <a:r>
              <a:t>Reponse: "C'est justement pour ca que LedgerLink existe."</a:t>
            </a:r>
          </a:p>
          <a:p>
            <a:r>
              <a:t>Installation: 30 minutes a distance. VOUS faites tout.</a:t>
            </a:r>
          </a:p>
          <a:p>
            <a:r>
              <a:t>Interface simple: file d'attente, un clic pour approuver.</a:t>
            </a:r>
          </a:p>
          <a:p>
            <a:r>
              <a:t>Aucune formation complexe requise.</a:t>
            </a:r>
          </a:p>
          <a:p>
            <a:r>
              <a:t>Concluez: "30 minutes cette semaine, ca serait faisable?"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Objection: "Nos clients ne l'utiliseront pas"</a:t>
            </a:r>
          </a:p>
          <a:p>
            <a:r>
              <a:t>Ils pensent: Peur du changement cote client.</a:t>
            </a:r>
          </a:p>
          <a:p>
            <a:r>
              <a:t>Reponse: "Vos clients n'ont rien a apprendre."</a:t>
            </a:r>
          </a:p>
          <a:p>
            <a:r>
              <a:t>Seul changement: photo au lieu de scanner/enveloppe.</a:t>
            </a:r>
          </a:p>
          <a:p>
            <a:r>
              <a:t>Code QR par client --- pas d'app, pas de mot de passe.</a:t>
            </a:r>
          </a:p>
          <a:p>
            <a:r>
              <a:t>Courriels et PDF traites de la meme facon.</a:t>
            </a:r>
          </a:p>
          <a:p>
            <a:r>
              <a:t>Concluez: "Avez-vous des clients technos pour le pilote?"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Objection: "Et si vous fermez?"</a:t>
            </a:r>
          </a:p>
          <a:p>
            <a:r>
              <a:t>Ils pensent: Mefiance envers les startups.</a:t>
            </a:r>
          </a:p>
          <a:p>
            <a:r>
              <a:t>Reponse: "C'est l'avantage principal de LedgerLink."</a:t>
            </a:r>
          </a:p>
          <a:p>
            <a:r>
              <a:t>Vos donnees = sur VOTRE serveur. SQLite lisible partout.</a:t>
            </a:r>
          </a:p>
          <a:p>
            <a:r>
              <a:t>Si LedgerLink disparait, vos donnees restent.</a:t>
            </a:r>
          </a:p>
          <a:p>
            <a:r>
              <a:t>Comparez: TaxDome/Karbon = serveurs Amazon aux USA.</a:t>
            </a:r>
          </a:p>
          <a:p>
            <a:r>
              <a:t>Concluez: "La question des donnees est votre principale preoccupation?"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Objection: "On va y penser"</a:t>
            </a:r>
          </a:p>
          <a:p>
            <a:r>
              <a:t>Ils pensent: Pas prets a decider. Veulent eviter de dire non en face.</a:t>
            </a:r>
          </a:p>
          <a:p>
            <a:r>
              <a:t>Reponse: "Bien sur. Est-ce que je peux poser une question?"</a:t>
            </a:r>
          </a:p>
          <a:p>
            <a:r>
              <a:t>"Qu'est-ce qui vous ferait pencher d'un cote ou de l'autre?"</a:t>
            </a:r>
          </a:p>
          <a:p>
            <a:r>
              <a:t>Si flou: "Le prix, le timing, ou la confiance dans la techno?"</a:t>
            </a:r>
          </a:p>
          <a:p>
            <a:r>
              <a:t>Ils choisiront. Maintenant vous savez quoi adresser.</a:t>
            </a:r>
          </a:p>
          <a:p>
            <a:r>
              <a:t>Concluez: "Est-ce que je peux vous recontacter [jour precis]?"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Objection: "Peut-on avoir un rabais?"</a:t>
            </a:r>
          </a:p>
          <a:p>
            <a:r>
              <a:t>Ils pensent: SIGNAL D'ACHAT. Ils veulent acheter mais veulent un deal.</a:t>
            </a:r>
          </a:p>
          <a:p>
            <a:r>
              <a:t>Reponse: NE JAMAIS baisser le prix mensuel.</a:t>
            </a:r>
          </a:p>
          <a:p>
            <a:r>
              <a:t>Option A: +5 clients configures dans les frais d'installation</a:t>
            </a:r>
          </a:p>
          <a:p>
            <a:r>
              <a:t>Option B: Engagement 12 mois = installation offerte</a:t>
            </a:r>
          </a:p>
          <a:p>
            <a:r>
              <a:t>Option C: Premier mois a 50% comme client fondateur</a:t>
            </a:r>
          </a:p>
          <a:p>
            <a:r>
              <a:t>Concluez: "Le prix reflete la valeur. 249$ pour recuperer 15 000$."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Objection: "L'IA fait des erreurs?"</a:t>
            </a:r>
          </a:p>
          <a:p>
            <a:r>
              <a:t>Ils pensent: Peur que l'IA ruine les livres de leurs clients.</a:t>
            </a:r>
          </a:p>
          <a:p>
            <a:r>
              <a:t>Reponse: "C'est la bonne question."</a:t>
            </a:r>
          </a:p>
          <a:p>
            <a:r>
              <a:t>Taxes = JAMAIS par IA. Math pur, librairie Decimal, 0 erreur.</a:t>
            </a:r>
          </a:p>
          <a:p>
            <a:r>
              <a:t>IA = lecture de documents + suggestions GL seulement.</a:t>
            </a:r>
          </a:p>
          <a:p>
            <a:r>
              <a:t>Chaque transaction approuvee par un humain.</a:t>
            </a:r>
          </a:p>
          <a:p>
            <a:r>
              <a:t>File de revision pour confiance basse.</a:t>
            </a:r>
          </a:p>
          <a:p>
            <a:r>
              <a:t>Concluez: "L'IA peut suggerer une erreur. Mais ne peut JAMAIS la publier."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L'Ordre n'approuve aucun logiciel. Trop petit = Essentiel 99$. Trop gros = Entreprise 999$. Concurrent renouvele = pilote gratuit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56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926080"/>
            <a:ext cx="27432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DC3E6"/>
                </a:solidFill>
                <a:latin typeface="Segoe UI"/>
              </a:defRPr>
            </a:pPr>
            <a:r>
              <a:t>Guide de traitement des objections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"/>
              </a:defRPr>
            </a:pPr>
            <a:r>
              <a:t>Reconnaitre. Recadrer. Repondre. Avancer.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Methode universelle: Reconnaitre-Recadrer-Repondre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697480" cy="228600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E75B6"/>
                </a:solidFill>
                <a:latin typeface="Segoe UI"/>
              </a:defRPr>
            </a:pPr>
            <a:r>
              <a:t>1. Reconnaitre</a:t>
            </a:r>
          </a:p>
          <a:p>
            <a:pPr algn="ctr">
              <a:spcBef>
                <a:spcPts val="1200"/>
              </a:spcBef>
              <a:defRPr sz="1700">
                <a:solidFill>
                  <a:srgbClr val="FFFFFF"/>
                </a:solidFill>
                <a:latin typeface="Segoe UI"/>
              </a:defRPr>
            </a:pPr>
            <a:r>
              <a:t>"Je comprends."</a:t>
            </a:r>
            <a:br/>
            <a:r>
              <a:t>"C'est une bonne question."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2286000"/>
            <a:ext cx="2697480" cy="228600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406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406090"/>
                </a:solidFill>
                <a:latin typeface="Segoe UI"/>
              </a:defRPr>
            </a:pPr>
            <a:r>
              <a:t>2. Recadrer</a:t>
            </a:r>
          </a:p>
          <a:p>
            <a:pPr algn="ctr">
              <a:spcBef>
                <a:spcPts val="1200"/>
              </a:spcBef>
              <a:defRPr sz="1700">
                <a:solidFill>
                  <a:srgbClr val="FFFFFF"/>
                </a:solidFill>
                <a:latin typeface="Segoe UI"/>
              </a:defRPr>
            </a:pPr>
            <a:r>
              <a:t>"Ce que vous demandez</a:t>
            </a:r>
            <a:br/>
            <a:r>
              <a:t>vraiment, c'est..."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2697480" cy="228600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B050"/>
                </a:solidFill>
                <a:latin typeface="Segoe UI"/>
              </a:defRPr>
            </a:pPr>
            <a:r>
              <a:t>3. Repondre</a:t>
            </a:r>
          </a:p>
          <a:p>
            <a:pPr algn="ctr">
              <a:spcBef>
                <a:spcPts val="1200"/>
              </a:spcBef>
              <a:defRPr sz="1700">
                <a:solidFill>
                  <a:srgbClr val="FFFFFF"/>
                </a:solidFill>
                <a:latin typeface="Segoe UI"/>
              </a:defRPr>
            </a:pPr>
            <a:r>
              <a:t>Faits, chiffres,</a:t>
            </a:r>
            <a:br/>
            <a:r>
              <a:t>ou histoire.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2286000"/>
            <a:ext cx="2697480" cy="2286000"/>
          </a:xfrm>
          <a:prstGeom prst="roundRect">
            <a:avLst/>
          </a:prstGeom>
          <a:solidFill>
            <a:srgbClr val="182C50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D700"/>
                </a:solidFill>
                <a:latin typeface="Segoe UI"/>
              </a:defRPr>
            </a:pPr>
            <a:r>
              <a:t>4. Avancer</a:t>
            </a:r>
          </a:p>
          <a:p>
            <a:pPr algn="ctr">
              <a:spcBef>
                <a:spcPts val="1200"/>
              </a:spcBef>
              <a:defRPr sz="1700">
                <a:solidFill>
                  <a:srgbClr val="FFFFFF"/>
                </a:solidFill>
                <a:latin typeface="Segoe UI"/>
              </a:defRPr>
            </a:pPr>
            <a:r>
              <a:t>"Est-ce que ca repond?</a:t>
            </a:r>
            <a:br/>
            <a:r>
              <a:t>Si oui, [prochaine etape]"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D7D31"/>
                </a:solidFill>
                <a:latin typeface="Segoe UI"/>
              </a:defRPr>
            </a:pPr>
            <a:r>
              <a:t>"On utilise deja TaxDome / Karbon / CaseWare"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D700"/>
                </a:solidFill>
                <a:latin typeface="Segoe UI"/>
              </a:rPr>
              <a:t>Ils pensent vraiment: </a:t>
            </a:r>
            <a:r>
              <a:rPr sz="1700" i="1">
                <a:solidFill>
                  <a:srgbClr val="9DC3E6"/>
                </a:solidFill>
                <a:latin typeface="Segoe UI"/>
              </a:rPr>
              <a:t>Ils ont deja investi du temps et de l'argent ailleurs.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5029200" cy="9144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Ouvrez avec: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"Comment ca se passe avec [leur outil]? Est-ce que la saisie est vraiment automatisee?"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LedgerLink ne remplace pas [outil]. Il s'ajoute en amont.</a:t>
            </a:r>
          </a:p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[Outil] gere le flux de travail. LedgerLink elimine la saisie.</a:t>
            </a:r>
          </a:p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Les deux peuvent coexister.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B050"/>
                </a:solidFill>
                <a:latin typeface="Segoe UI"/>
              </a:rPr>
              <a:t>Concluez: </a:t>
            </a:r>
            <a:r>
              <a:rPr sz="1700" i="1">
                <a:solidFill>
                  <a:srgbClr val="FFFFFF"/>
                </a:solidFill>
                <a:latin typeface="Segoe UI"/>
              </a:rPr>
              <a:t>"Ca vaudrait la peine de voir comment les deux fonctionnent ensemble?"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D7D31"/>
                </a:solidFill>
                <a:latin typeface="Segoe UI"/>
              </a:defRPr>
            </a:pPr>
            <a:r>
              <a:t>"C'est trop cher"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D700"/>
                </a:solidFill>
                <a:latin typeface="Segoe UI"/>
              </a:rPr>
              <a:t>Ils pensent vraiment: </a:t>
            </a:r>
            <a:r>
              <a:rPr sz="1700" i="1">
                <a:solidFill>
                  <a:srgbClr val="9DC3E6"/>
                </a:solidFill>
                <a:latin typeface="Segoe UI"/>
              </a:rPr>
              <a:t>Ils ne voient pas assez de valeur. Ou doivent justifier a un associe.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5029200" cy="9144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Ouvrez avec: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"Je comprends. Regardons les chiffres ensemble."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[X] clients x [Y]h de saisie = [Z]h/mois</a:t>
            </a:r>
          </a:p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A 150$/h = [$$] de capacite</a:t>
            </a:r>
          </a:p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LedgerLink = 249$/mois = 1.7% du temps recupere</a:t>
            </a:r>
          </a:p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= Rentable en moins de 2 heures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B050"/>
                </a:solidFill>
                <a:latin typeface="Segoe UI"/>
              </a:rPr>
              <a:t>Concluez: </a:t>
            </a:r>
            <a:r>
              <a:rPr sz="1700" i="1">
                <a:solidFill>
                  <a:srgbClr val="FFFFFF"/>
                </a:solidFill>
                <a:latin typeface="Segoe UI"/>
              </a:rPr>
              <a:t>"On offre un pilote de 30 jours gratuit. Vous testez, vous mesurez, vous decidez."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D7D31"/>
                </a:solidFill>
                <a:latin typeface="Segoe UI"/>
              </a:defRPr>
            </a:pPr>
            <a:r>
              <a:t>"On n'a pas le temps d'implanter"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D700"/>
                </a:solidFill>
                <a:latin typeface="Segoe UI"/>
              </a:rPr>
              <a:t>Ils pensent vraiment: </a:t>
            </a:r>
            <a:r>
              <a:rPr sz="1700" i="1">
                <a:solidFill>
                  <a:srgbClr val="9DC3E6"/>
                </a:solidFill>
                <a:latin typeface="Segoe UI"/>
              </a:rPr>
              <a:t>Ils sont deja submerges. Un logiciel de plus les effraie.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5029200" cy="9144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Ouvrez avec: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"C'est justement pour ca que LedgerLink existe."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Installation: 30 minutes a distance. VOUS faites tout.</a:t>
            </a:r>
          </a:p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Interface simple: file d'attente, un clic pour approuver.</a:t>
            </a:r>
          </a:p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Aucune formation complexe requise.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B050"/>
                </a:solidFill>
                <a:latin typeface="Segoe UI"/>
              </a:rPr>
              <a:t>Concluez: </a:t>
            </a:r>
            <a:r>
              <a:rPr sz="1700" i="1">
                <a:solidFill>
                  <a:srgbClr val="FFFFFF"/>
                </a:solidFill>
                <a:latin typeface="Segoe UI"/>
              </a:rPr>
              <a:t>"30 minutes cette semaine, ca serait faisable?"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D7D31"/>
                </a:solidFill>
                <a:latin typeface="Segoe UI"/>
              </a:defRPr>
            </a:pPr>
            <a:r>
              <a:t>"Nos clients ne l'utiliseront pas"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D700"/>
                </a:solidFill>
                <a:latin typeface="Segoe UI"/>
              </a:rPr>
              <a:t>Ils pensent vraiment: </a:t>
            </a:r>
            <a:r>
              <a:rPr sz="1700" i="1">
                <a:solidFill>
                  <a:srgbClr val="9DC3E6"/>
                </a:solidFill>
                <a:latin typeface="Segoe UI"/>
              </a:rPr>
              <a:t>Peur du changement cote client.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5029200" cy="9144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Ouvrez avec: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"Vos clients n'ont rien a apprendre."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Seul changement: photo au lieu de scanner/enveloppe.</a:t>
            </a:r>
          </a:p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Code QR par client --- pas d'app, pas de mot de passe.</a:t>
            </a:r>
          </a:p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Courriels et PDF traites de la meme facon.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B050"/>
                </a:solidFill>
                <a:latin typeface="Segoe UI"/>
              </a:rPr>
              <a:t>Concluez: </a:t>
            </a:r>
            <a:r>
              <a:rPr sz="1700" i="1">
                <a:solidFill>
                  <a:srgbClr val="FFFFFF"/>
                </a:solidFill>
                <a:latin typeface="Segoe UI"/>
              </a:rPr>
              <a:t>"Avez-vous des clients technos pour le pilote?"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D7D31"/>
                </a:solidFill>
                <a:latin typeface="Segoe UI"/>
              </a:defRPr>
            </a:pPr>
            <a:r>
              <a:t>"Et si vous fermez?"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D700"/>
                </a:solidFill>
                <a:latin typeface="Segoe UI"/>
              </a:rPr>
              <a:t>Ils pensent vraiment: </a:t>
            </a:r>
            <a:r>
              <a:rPr sz="1700" i="1">
                <a:solidFill>
                  <a:srgbClr val="9DC3E6"/>
                </a:solidFill>
                <a:latin typeface="Segoe UI"/>
              </a:rPr>
              <a:t>Mefiance envers les startups.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5029200" cy="9144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Ouvrez avec: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"C'est l'avantage principal de LedgerLink."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Vos donnees = sur VOTRE serveur. SQLite lisible partout.</a:t>
            </a:r>
          </a:p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Si LedgerLink disparait, vos donnees restent.</a:t>
            </a:r>
          </a:p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Comparez: TaxDome/Karbon = serveurs Amazon aux USA.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B050"/>
                </a:solidFill>
                <a:latin typeface="Segoe UI"/>
              </a:rPr>
              <a:t>Concluez: </a:t>
            </a:r>
            <a:r>
              <a:rPr sz="1700" i="1">
                <a:solidFill>
                  <a:srgbClr val="FFFFFF"/>
                </a:solidFill>
                <a:latin typeface="Segoe UI"/>
              </a:rPr>
              <a:t>"La question des donnees est votre principale preoccupation?"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D7D31"/>
                </a:solidFill>
                <a:latin typeface="Segoe UI"/>
              </a:defRPr>
            </a:pPr>
            <a:r>
              <a:t>"On va y penser"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D700"/>
                </a:solidFill>
                <a:latin typeface="Segoe UI"/>
              </a:rPr>
              <a:t>Ils pensent vraiment: </a:t>
            </a:r>
            <a:r>
              <a:rPr sz="1700" i="1">
                <a:solidFill>
                  <a:srgbClr val="9DC3E6"/>
                </a:solidFill>
                <a:latin typeface="Segoe UI"/>
              </a:rPr>
              <a:t>Pas prets a decider. Veulent eviter de dire non en 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5029200" cy="9144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Ouvrez avec: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"Bien sur. Est-ce que je peux poser une question?"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"Qu'est-ce qui vous ferait pencher d'un cote ou de l'autre?"</a:t>
            </a:r>
          </a:p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Si flou: "Le prix, le timing, ou la confiance dans la techno?"</a:t>
            </a:r>
          </a:p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Ils choisiront. Maintenant vous savez quoi adresser.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B050"/>
                </a:solidFill>
                <a:latin typeface="Segoe UI"/>
              </a:rPr>
              <a:t>Concluez: </a:t>
            </a:r>
            <a:r>
              <a:rPr sz="1700" i="1">
                <a:solidFill>
                  <a:srgbClr val="FFFFFF"/>
                </a:solidFill>
                <a:latin typeface="Segoe UI"/>
              </a:rPr>
              <a:t>"Est-ce que je peux vous recontacter [jour precis]?"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D7D31"/>
                </a:solidFill>
                <a:latin typeface="Segoe UI"/>
              </a:defRPr>
            </a:pPr>
            <a:r>
              <a:t>"Peut-on avoir un rabais?"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D700"/>
                </a:solidFill>
                <a:latin typeface="Segoe UI"/>
              </a:rPr>
              <a:t>Ils pensent vraiment: </a:t>
            </a:r>
            <a:r>
              <a:rPr sz="1700" i="1">
                <a:solidFill>
                  <a:srgbClr val="9DC3E6"/>
                </a:solidFill>
                <a:latin typeface="Segoe UI"/>
              </a:rPr>
              <a:t>SIGNAL D'ACHAT. Ils veulent acheter mais veulent un deal.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5029200" cy="9144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Ouvrez avec: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NE JAMAIS baisser le prix mensuel.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Option A: +5 clients configures dans les frais d'installation</a:t>
            </a:r>
          </a:p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Option B: Engagement 12 mois = installation offerte</a:t>
            </a:r>
          </a:p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Option C: Premier mois a 50% comme client fondateur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B050"/>
                </a:solidFill>
                <a:latin typeface="Segoe UI"/>
              </a:rPr>
              <a:t>Concluez: </a:t>
            </a:r>
            <a:r>
              <a:rPr sz="1700" i="1">
                <a:solidFill>
                  <a:srgbClr val="FFFFFF"/>
                </a:solidFill>
                <a:latin typeface="Segoe UI"/>
              </a:rPr>
              <a:t>"Le prix reflete la valeur. 249$ pour recuperer 15 000$."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D7D31"/>
                </a:solidFill>
                <a:latin typeface="Segoe UI"/>
              </a:defRPr>
            </a:pPr>
            <a:r>
              <a:t>"L'IA fait des erreurs?"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D700"/>
                </a:solidFill>
                <a:latin typeface="Segoe UI"/>
              </a:rPr>
              <a:t>Ils pensent vraiment: </a:t>
            </a:r>
            <a:r>
              <a:rPr sz="1700" i="1">
                <a:solidFill>
                  <a:srgbClr val="9DC3E6"/>
                </a:solidFill>
                <a:latin typeface="Segoe UI"/>
              </a:rPr>
              <a:t>Peur que l'IA ruine les livres de leurs clients.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5029200" cy="9144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Ouvrez avec: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"C'est la bonne question."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Taxes = JAMAIS par IA. Math pur, librairie Decimal, 0 erreur.</a:t>
            </a:r>
          </a:p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IA = lecture de documents + suggestions GL seulement.</a:t>
            </a:r>
          </a:p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Chaque transaction approuvee par un humain.</a:t>
            </a:r>
          </a:p>
          <a:p>
            <a:pPr>
              <a:spcAft>
                <a:spcPts val="10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File de revision pour confiance basse.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B050"/>
                </a:solidFill>
                <a:latin typeface="Segoe UI"/>
              </a:rPr>
              <a:t>Concluez: </a:t>
            </a:r>
            <a:r>
              <a:rPr sz="1700" i="1">
                <a:solidFill>
                  <a:srgbClr val="FFFFFF"/>
                </a:solidFill>
                <a:latin typeface="Segoe UI"/>
              </a:rPr>
              <a:t>"L'IA peut suggerer une erreur. Mais ne peut JAMAIS la publier."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LedgerLink</a:t>
            </a:r>
            <a:r>
              <a:rPr sz="1400" b="1">
                <a:solidFill>
                  <a:srgbClr val="FFD700"/>
                </a:solidFill>
                <a:latin typeface="Segoe UI"/>
              </a:rPr>
              <a:t>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Autres objections courantes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029200" cy="2011680"/>
          </a:xfrm>
          <a:prstGeom prst="roundRect">
            <a:avLst/>
          </a:prstGeom>
          <a:solidFill>
            <a:srgbClr val="18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ED7D31"/>
                </a:solidFill>
                <a:latin typeface="Segoe UI"/>
              </a:defRPr>
            </a:pPr>
            <a:r>
              <a:t>"Approuve par l'Ordre des CPA?"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L'Ordre n'approuve AUCUN logiciel.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Ni QBO, ni CaseWare, ni aucun autre.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Exigence: jugement pro + piste d'audit.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LedgerLink = revue humaine + audit complet.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103120"/>
            <a:ext cx="5577840" cy="914400"/>
          </a:xfrm>
          <a:prstGeom prst="roundRect">
            <a:avLst/>
          </a:prstGeom>
          <a:solidFill>
            <a:srgbClr val="18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ED7D31"/>
                </a:solidFill>
                <a:latin typeface="Segoe UI"/>
              </a:defRPr>
            </a:pPr>
            <a:r>
              <a:t>"On est trop petit" (&lt;10 clients)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Essentiel: 99$/mois, 10 clients, 3 users. Rentable en 1h.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291840"/>
            <a:ext cx="5577840" cy="914400"/>
          </a:xfrm>
          <a:prstGeom prst="roundRect">
            <a:avLst/>
          </a:prstGeom>
          <a:solidFill>
            <a:srgbClr val="18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ED7D31"/>
                </a:solidFill>
                <a:latin typeface="Segoe UI"/>
              </a:defRPr>
            </a:pPr>
            <a:r>
              <a:t>"On est trop gros" (&gt;75 clients)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Entreprise: 999$/mois, illimite + audit CAS complet.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881360" cy="1097280"/>
          </a:xfrm>
          <a:prstGeom prst="roundRect">
            <a:avLst/>
          </a:prstGeom>
          <a:solidFill>
            <a:srgbClr val="182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ED7D31"/>
                </a:solidFill>
                <a:latin typeface="Segoe UI"/>
              </a:defRPr>
            </a:pPr>
            <a:r>
              <a:t>"On vient de renouveler avec [concurrent]"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LedgerLink s'ajoute en amont, ne remplace pas. Notez la date de fin.</a:t>
            </a:r>
          </a:p>
          <a:p>
            <a:pPr>
              <a:spcAft>
                <a:spcPts val="400"/>
              </a:spcAft>
              <a:defRPr sz="1600" b="0">
                <a:solidFill>
                  <a:srgbClr val="9DC3E6"/>
                </a:solidFill>
                <a:latin typeface="Segoe UI"/>
              </a:defRPr>
            </a:pPr>
            <a:r>
              <a:t>Offrez le pilote gratuit maintenant --- ca ne touche pas leur contrat.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