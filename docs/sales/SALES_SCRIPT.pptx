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document est un guide interne. Chaque mot est choisi pour maximiser l'impact. Suivez le script mot a mot lors de vos premiers appels, puis adaptez une fois que vous maitrisez le flux.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Regles: Dites leur nom. Presentez-vous en une phrase. Posez UNE question. Ne pitchez pas. S'ils disent oui, demandez combien d'heures. Ecoutez. S'ils disent non ou occupes: proposez un courriel d'une ligne avec un lien de demo de 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secondes maximum. Resultat specifique. Envoyez le courriel dans les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Personnalisation double le taux d'ouverture. Mobile tronque a 40 caracteres. Utilisez des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Posez. Taisez-vous. Prenez des notes. Ne les interrompez jamais. Ecrivez leur douleur mot pour mot --- vous la reutiliserez sur la diapo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Repetez LEURS mots, pas les votres. Demandez la permission de montrer la demo. Fixez l'attente de temps: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Dites: 'Je vais vous montrer 4 choses en 15 minutes.' Puis listez-les. 'On commence.'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Dites le prix avec confiance. Arretez de parler. Ancrez sur le ROI. Silence = outil de vente.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Toujours proposer une prochaine etape concrete. Toujours obtenir une date. 'La semaine prochaine' n'est pas une date. 'Mardi a 14h' est une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 1 est obligatoire (2h). 4 relances max. Chaque relance plus courte. Jour 14 = valeur pure, aucune demande. C'est ce qui les fait se souvenir de vous 3 mois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4+ boxes cochees, procedez avec la demo complete. Si moins, concentrez-vous sur la relation et envoyez le one-pager.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56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DC3E6"/>
                </a:solidFill>
                <a:latin typeface="Segoe UI"/>
              </a:defRPr>
            </a:pPr>
            <a:r>
              <a:t>Script de vente --- Mot a mot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Guide complet pour les representants et partenaires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1. Ouverture d'appel a froid (30 secondes)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201168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Script FR: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"Bonjour [prenom], c'est [votre nom] de LedgerLink. Je ne vous derangerai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pas longtemps. On aide les cabinets CPA du Quebec a eliminer la saisie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manuelle avec l'IA. Est-ce que la saisie de factures prend beaucoup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de temps dans votre cabinet?"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D700"/>
                </a:solidFill>
                <a:latin typeface="Segoe UI"/>
              </a:defRPr>
            </a:pPr>
            <a:r>
              <a:t>Dites leur nom  |  Une seule phrase  |  Une seule question</a:t>
            </a:r>
          </a:p>
          <a:p>
            <a:pPr>
              <a:spcAft>
                <a:spcPts val="1000"/>
              </a:spcAft>
              <a:defRPr sz="2000" b="0">
                <a:solidFill>
                  <a:srgbClr val="FFD700"/>
                </a:solidFill>
                <a:latin typeface="Segoe UI"/>
              </a:defRPr>
            </a:pPr>
            <a:r>
              <a:t>Ne pitchez pas  |  Si oui: "Combien d'heures par semaine?"  |  Ecoutez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2. Message vocal (20 secondes max)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164592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Script FR: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"Bonjour [prenom], c'est [votre nom] de LedgerLink. On aide les cabinets CPA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a eliminer la saisie manuelle --- un de vos collegues economise 160 heures/mois.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Je vous envoie un courriel avec les details. Bonne journee."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D7D31"/>
                </a:solidFill>
                <a:latin typeface="Segoe UI"/>
              </a:rPr>
              <a:t>  </a:t>
            </a:r>
            <a:r>
              <a:rPr sz="1800">
                <a:solidFill>
                  <a:srgbClr val="FFFFFF"/>
                </a:solidFill>
                <a:latin typeface="Segoe UI"/>
              </a:rPr>
              <a:t>20 secondes MAXIMUM --- plus long = ils n'ecoutent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D7D31"/>
                </a:solidFill>
                <a:latin typeface="Segoe UI"/>
              </a:rPr>
              <a:t>  </a:t>
            </a:r>
            <a:r>
              <a:rPr sz="1800">
                <a:solidFill>
                  <a:srgbClr val="FFFFFF"/>
                </a:solidFill>
                <a:latin typeface="Segoe UI"/>
              </a:rPr>
              <a:t>Nommez un resultat specifique (160 heures, 22 500$, 30 clients)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D7D31"/>
                </a:solidFill>
                <a:latin typeface="Segoe UI"/>
              </a:rPr>
              <a:t>  </a:t>
            </a:r>
            <a:r>
              <a:rPr sz="1800">
                <a:solidFill>
                  <a:srgbClr val="FFFFFF"/>
                </a:solidFill>
                <a:latin typeface="Segoe UI"/>
              </a:rPr>
              <a:t>Dites que vous envoyez un courriel --- puis envoyez-le dans les 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D7D31"/>
                </a:solidFill>
                <a:latin typeface="Segoe UI"/>
              </a:rPr>
              <a:t>  </a:t>
            </a:r>
            <a:r>
              <a:rPr sz="1800">
                <a:solidFill>
                  <a:srgbClr val="FFFFFF"/>
                </a:solidFill>
                <a:latin typeface="Segoe UI"/>
              </a:rPr>
              <a:t>Ne demandez PAS de vous rappeler --- le courriel fait le travail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3. Objets de courriels qui se font ouvrir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1.  "160 heures/mois de saisie eliminees --- [NomDuCabinet]"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2.  "Question rapide sur la saisie de donnees chez [NomDuCabinet]"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3.  "TPS/TVQ automatique --- vu par un cabinet CPA du Quebec"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4.  "[Prenom], 2 minutes pour voir comment ca marche?"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5.  "Loi 25 + saisie automatique --- pertinent pour [NomDuCabinet]?"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6.  "De 5 heures a 25 minutes par client"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D700"/>
                </a:solidFill>
                <a:latin typeface="Segoe UI"/>
              </a:defRPr>
            </a:pPr>
            <a:r>
              <a:t>Utilisez leur nom/cabinet  |  Moins de 50 caracteres  |  Utilisez des chiffres</a:t>
            </a:r>
          </a:p>
          <a:p>
            <a:pPr>
              <a:spcAft>
                <a:spcPts val="1000"/>
              </a:spcAft>
              <a:defRPr sz="1800" b="0">
                <a:solidFill>
                  <a:srgbClr val="FFD700"/>
                </a:solidFill>
                <a:latin typeface="Segoe UI"/>
              </a:defRPr>
            </a:pPr>
            <a:r>
              <a:t>Jamais 'Demo gratuite' ou 'Offre speciale' (filtres anti-spam)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4. Questions de decouverte (avant de montrer quoi que ce soit)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  <a:latin typeface="Segoe UI"/>
              </a:defRPr>
            </a:pPr>
            <a:r>
              <a:t>Douleur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Combien d'heures de saisie par semaine?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Comment recevez-vous les documents?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Plus gros probleme en saison des impots?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Deja eu un doublon qui est passe?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Outil actuel? Papier? Excel? Logiciel?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QuickBooks Desktop ou Online?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  <a:latin typeface="Segoe UI"/>
              </a:defRPr>
            </a:pPr>
            <a:r>
              <a:t>Contexte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Combien de clients actifs?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Combien de personnes font de la saisie?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11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Que feriez-vous avec 20h de plus/semaine?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Loi 25 vous preoccupe?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Missions de verification ou d'examen?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120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0B050"/>
                </a:solidFill>
                <a:latin typeface="Segoe UI"/>
              </a:rPr>
              <a:t>  </a:t>
            </a:r>
            <a:r>
              <a:rPr sz="1700">
                <a:solidFill>
                  <a:srgbClr val="FFFFFF"/>
                </a:solidFill>
                <a:latin typeface="Segoe UI"/>
              </a:rPr>
              <a:t>Erreur de saisie vs Revenu Quebec?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D700"/>
                </a:solidFill>
                <a:latin typeface="Segoe UI"/>
              </a:defRPr>
            </a:pPr>
            <a:r>
              <a:t>5. Transition vers la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i="1">
                <a:solidFill>
                  <a:srgbClr val="FFFFFF"/>
                </a:solidFill>
                <a:latin typeface="Segoe UI"/>
              </a:defRPr>
            </a:pPr>
            <a:r>
              <a:t>"Merci, c'est tres utile. Vous avez mentionne [repeter leur probleme dans LEURS mots]. C'est exactement ce que LedgerLink regle. Est-ce que je peux vous montrer en 15 minutes?"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6. Narration de demo (resume)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468880"/>
            <a:ext cx="731520" cy="73152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Document traite</a:t>
            </a:r>
            <a:br/>
            <a:r>
              <a:t>automatiquement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80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Photo vers compte GL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28600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2468880"/>
            <a:ext cx="731520" cy="73152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83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Detection de</a:t>
            </a:r>
            <a:br/>
            <a:r>
              <a:t>fraude en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480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13 regles en temps reel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0" y="2468880"/>
            <a:ext cx="731520" cy="73152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383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Resume de</a:t>
            </a:r>
            <a:br/>
            <a:r>
              <a:t>production FPZ-500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Pre-remplissage RQ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86000"/>
            <a:ext cx="2697480" cy="32004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12680" y="2468880"/>
            <a:ext cx="731520" cy="7315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86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832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Module d'audit</a:t>
            </a:r>
            <a:br/>
            <a:r>
              <a:t>CAS 315-700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480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DC3E6"/>
                </a:solidFill>
                <a:latin typeface="Segoe UI"/>
              </a:defRPr>
            </a:pPr>
            <a:r>
              <a:t>Dossiers de travail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7. La conversation sur le prix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29200" cy="1828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Quand ils demandent le prix: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"Le forfait Professionnel, qui convient a la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plupart des cabinets de votre taille, est a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249$/mois. Plus 500-1000$ d'installation."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03120"/>
            <a:ext cx="5577840" cy="182880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D700"/>
                </a:solidFill>
                <a:latin typeface="Segoe UI"/>
              </a:defRPr>
            </a:pPr>
            <a:r>
              <a:t>Puis: ARRETEZ DE PARLER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Laissez le silence travailler.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Le prochain a parler perd la negociation.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D7D31"/>
                </a:solidFill>
                <a:latin typeface="Segoe UI"/>
              </a:rPr>
              <a:t>  </a:t>
            </a:r>
            <a:r>
              <a:rPr sz="1800">
                <a:solidFill>
                  <a:srgbClr val="FFFFFF"/>
                </a:solidFill>
                <a:latin typeface="Segoe UI"/>
              </a:rPr>
              <a:t>Ne dites JAMAIS "seulement" ou "juste" --- ca sonne apologetique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5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D7D31"/>
                </a:solidFill>
                <a:latin typeface="Segoe UI"/>
              </a:rPr>
              <a:t>  </a:t>
            </a:r>
            <a:r>
              <a:rPr sz="1800">
                <a:solidFill>
                  <a:srgbClr val="FFFFFF"/>
                </a:solidFill>
                <a:latin typeface="Segoe UI"/>
              </a:rPr>
              <a:t>Ancrez sur le ROI, pas le prix: le prix est 249$, la valeur est 24 000$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ED7D31"/>
                </a:solidFill>
                <a:latin typeface="Segoe UI"/>
              </a:rPr>
              <a:t>  </a:t>
            </a:r>
            <a:r>
              <a:rPr sz="1800">
                <a:solidFill>
                  <a:srgbClr val="FFFFFF"/>
                </a:solidFill>
                <a:latin typeface="Segoe UI"/>
              </a:rPr>
              <a:t>S'ils disent 'c'est cher': faites le calcul avec LEURS chiffres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8. Techniques de cloture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566160" cy="347472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B050"/>
                </a:solidFill>
                <a:latin typeface="Segoe UI"/>
              </a:defRPr>
            </a:pPr>
            <a:r>
              <a:t>Cloture directe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i="1">
                <a:solidFill>
                  <a:srgbClr val="FFFFFF"/>
                </a:solidFill>
                <a:latin typeface="Segoe UI"/>
              </a:defRPr>
            </a:pPr>
            <a:r>
              <a:t>"On commence avec un pilote de 30 jours?</a:t>
            </a:r>
            <a:br/>
            <a:r>
              <a:t>Je peux configurer 5 clients cette semaine."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DC3E6"/>
                </a:solidFill>
                <a:latin typeface="Segoe UI"/>
              </a:defRPr>
            </a:pPr>
            <a:r>
              <a:t>Pour ceux qui semblent prets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566160" cy="347472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75B6"/>
                </a:solidFill>
                <a:latin typeface="Segoe UI"/>
              </a:defRPr>
            </a:pPr>
            <a:r>
              <a:t>Cloture calendrier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i="1">
                <a:solidFill>
                  <a:srgbClr val="FFFFFF"/>
                </a:solidFill>
                <a:latin typeface="Segoe UI"/>
              </a:defRPr>
            </a:pPr>
            <a:r>
              <a:t>"Mardi prochain a 10h, ca marcherait</a:t>
            </a:r>
            <a:br/>
            <a:r>
              <a:t>pour une demo de 15 minutes?"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DC3E6"/>
                </a:solidFill>
                <a:latin typeface="Segoe UI"/>
              </a:defRPr>
            </a:pPr>
            <a:r>
              <a:t>Pour ceux qui ont besoin de temps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566160" cy="347472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Segoe UI"/>
              </a:defRPr>
            </a:pPr>
            <a:r>
              <a:t>Cloture courriel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i="1">
                <a:solidFill>
                  <a:srgbClr val="FFFFFF"/>
                </a:solidFill>
                <a:latin typeface="Segoe UI"/>
              </a:defRPr>
            </a:pPr>
            <a:r>
              <a:t>"Je vous envoie un resume. Est-ce que</a:t>
            </a:r>
            <a:br/>
            <a:r>
              <a:t>je peux vous recontacter jeudi?"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DC3E6"/>
                </a:solidFill>
                <a:latin typeface="Segoe UI"/>
              </a:defRPr>
            </a:pPr>
            <a:r>
              <a:t>Pour ceux qui sont occupes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D700"/>
                </a:solidFill>
                <a:latin typeface="Segoe UI"/>
              </a:defRPr>
            </a:pPr>
            <a:r>
              <a:t>TOUJOURS proposer une prochaine etape concrete  |  TOUJOURS obtenir une 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9. Sequence de relance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697480" cy="3200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D700"/>
                </a:solidFill>
                <a:latin typeface="Segoe UI"/>
              </a:defRPr>
            </a:pPr>
            <a:r>
              <a:t>Jour 1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Resume + prochaines etapes</a:t>
            </a:r>
            <a:br/>
            <a:r>
              <a:t>(dans les 2 heures)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9DC3E6"/>
                </a:solidFill>
                <a:latin typeface="Segoe UI"/>
              </a:defRPr>
            </a:pPr>
            <a:r>
              <a:t>OBLIGATOIRE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03120"/>
            <a:ext cx="2697480" cy="3200400"/>
          </a:xfrm>
          <a:prstGeom prst="roundRect">
            <a:avLst/>
          </a:prstGeom>
          <a:solidFill>
            <a:srgbClr val="4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D700"/>
                </a:solidFill>
                <a:latin typeface="Segoe UI"/>
              </a:defRPr>
            </a:pPr>
            <a:r>
              <a:t>Jour 3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Courriel court:</a:t>
            </a:r>
            <a:br/>
            <a:r>
              <a:t>'La demo de 15 min, ca vous dit?'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9DC3E6"/>
                </a:solidFill>
                <a:latin typeface="Segoe UI"/>
              </a:defRPr>
            </a:pPr>
            <a:r>
              <a:t>Si pas de reponse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2697480" cy="3200400"/>
          </a:xfrm>
          <a:prstGeom prst="roundRect">
            <a:avLst/>
          </a:prstGeom>
          <a:solidFill>
            <a:srgbClr val="4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D700"/>
                </a:solidFill>
                <a:latin typeface="Segoe UI"/>
              </a:defRPr>
            </a:pPr>
            <a:r>
              <a:t>Jour 7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Derniere question:</a:t>
            </a:r>
            <a:br/>
            <a:r>
              <a:t>'Projet 2026 ou plus tard?'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9DC3E6"/>
                </a:solidFill>
                <a:latin typeface="Segoe UI"/>
              </a:defRPr>
            </a:pPr>
            <a:r>
              <a:t>Si pas de reponse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103120"/>
            <a:ext cx="2697480" cy="32004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D700"/>
                </a:solidFill>
                <a:latin typeface="Segoe UI"/>
              </a:defRPr>
            </a:pPr>
            <a:r>
              <a:t>Jour 14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Article de valeur</a:t>
            </a:r>
            <a:br/>
            <a:r>
              <a:t>AUCUNE demande</a:t>
            </a:r>
          </a:p>
          <a:p>
            <a:pPr algn="ctr">
              <a:spcBef>
                <a:spcPts val="1200"/>
              </a:spcBef>
              <a:defRPr sz="1400" b="1">
                <a:solidFill>
                  <a:srgbClr val="9DC3E6"/>
                </a:solidFill>
                <a:latin typeface="Segoe UI"/>
              </a:defRPr>
            </a:pPr>
            <a:r>
              <a:t>Valeur pure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D700"/>
                </a:solidFill>
                <a:latin typeface="Segoe UI"/>
              </a:defRPr>
            </a:pPr>
            <a:r>
              <a:t>Jamais plus de 4 relances  |  Chaque relance plus courte que la precedente</a:t>
            </a:r>
          </a:p>
          <a:p>
            <a:pPr>
              <a:spcAft>
                <a:spcPts val="1000"/>
              </a:spcAft>
              <a:defRPr sz="1800" b="0">
                <a:solidFill>
                  <a:srgbClr val="FFD700"/>
                </a:solidFill>
                <a:latin typeface="Segoe UI"/>
              </a:defRPr>
            </a:pPr>
            <a:r>
              <a:t>Le jour 14 n'a AUCUNE demande --- c'est de la valeur pure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10. Liste de qualification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 b="1">
                <a:solidFill>
                  <a:srgbClr val="FFFFFF"/>
                </a:solidFill>
                <a:latin typeface="Segoe UI"/>
              </a:rPr>
              <a:t>Cabinet CPA au Quebec?  </a:t>
            </a:r>
            <a:r>
              <a:rPr sz="1600">
                <a:solidFill>
                  <a:srgbClr val="9DC3E6"/>
                </a:solidFill>
                <a:latin typeface="Segoe UI"/>
              </a:rPr>
              <a:t>Obligatoire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 b="1">
                <a:solidFill>
                  <a:srgbClr val="FFFFFF"/>
                </a:solidFill>
                <a:latin typeface="Segoe UI"/>
              </a:rPr>
              <a:t>Au moins 5 clients actifs?  </a:t>
            </a:r>
            <a:r>
              <a:rPr sz="1600">
                <a:solidFill>
                  <a:srgbClr val="9DC3E6"/>
                </a:solidFill>
                <a:latin typeface="Segoe UI"/>
              </a:rPr>
              <a:t>En dessous de 5, le ROI est faible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 b="1">
                <a:solidFill>
                  <a:srgbClr val="FFFFFF"/>
                </a:solidFill>
                <a:latin typeface="Segoe UI"/>
              </a:rPr>
              <a:t>QuickBooks (Desktop ou Online)?  </a:t>
            </a:r>
            <a:r>
              <a:rPr sz="1600">
                <a:solidFill>
                  <a:srgbClr val="9DC3E6"/>
                </a:solidFill>
                <a:latin typeface="Segoe UI"/>
              </a:rPr>
              <a:t>Pas obligatoire mais renforce la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 b="1">
                <a:solidFill>
                  <a:srgbClr val="FFFFFF"/>
                </a:solidFill>
                <a:latin typeface="Segoe UI"/>
              </a:rPr>
              <a:t>Decideur present dans la conversation?  </a:t>
            </a:r>
            <a:r>
              <a:rPr sz="1600">
                <a:solidFill>
                  <a:srgbClr val="9DC3E6"/>
                </a:solidFill>
                <a:latin typeface="Segoe UI"/>
              </a:rPr>
              <a:t>Sinon, obtenez un RDV avec lui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 b="1">
                <a:solidFill>
                  <a:srgbClr val="FFFFFF"/>
                </a:solidFill>
                <a:latin typeface="Segoe UI"/>
              </a:rPr>
              <a:t>Douleur autour de la saisie ou conformite?  </a:t>
            </a:r>
            <a:r>
              <a:rPr sz="1600">
                <a:solidFill>
                  <a:srgbClr val="9DC3E6"/>
                </a:solidFill>
                <a:latin typeface="Segoe UI"/>
              </a:rPr>
              <a:t>Pas de douleur = pas de vente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B050"/>
                </a:solidFill>
                <a:latin typeface="Segoe UI"/>
              </a:rPr>
              <a:t>  </a:t>
            </a:r>
            <a:r>
              <a:rPr sz="1900" b="1">
                <a:solidFill>
                  <a:srgbClr val="FFFFFF"/>
                </a:solidFill>
                <a:latin typeface="Segoe UI"/>
              </a:rPr>
              <a:t>Budget pour 500-1000$ d'installation?  </a:t>
            </a:r>
            <a:r>
              <a:rPr sz="1600">
                <a:solidFill>
                  <a:srgbClr val="9DC3E6"/>
                </a:solidFill>
                <a:latin typeface="Segoe UI"/>
              </a:rPr>
              <a:t>Sinon, offrez le pilote d'abord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D700"/>
                </a:solidFill>
                <a:latin typeface="Segoe UI"/>
              </a:defRPr>
            </a:pPr>
            <a:r>
              <a:t>4+ cases cochees = demo complete  |  Moins = focus sur la relation + one-pager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