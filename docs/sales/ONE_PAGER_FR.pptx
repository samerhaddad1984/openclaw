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LedgerLink elimine la saisie manuelle de factures. Vos clients envoient une photo. L'IA extrait les donnees. Votre equipe approuve en un clic. Les taxes sont calculees automatiquement.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avantages cles: 160h/mois recuperees, zero erreur de taxe, donnees locales (Loi 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 fonctionnalites principales couvrant extraction, fraude, rapprochement, audit, calendrier, temps, comms, M365, bilingue.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forfaits: Essentiel 99$, Professionnel 249$, Cabinet 499$, Entreprise 999$. Installation unique 500-1000$. Pilote 30 jours gratuit.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Securite: serveur local, bcrypt, audit complet, sauvegardes auto, Cloudflare, zero acces LedgerLink.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Coordonnees: support@ledgerlink.ca, ledgerlink.ca. Demo de 15 minutes avec vrais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56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926080"/>
            <a:ext cx="27432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DC3E6"/>
                </a:solidFill>
                <a:latin typeface="Segoe UI"/>
              </a:defRPr>
            </a:pPr>
            <a:r>
              <a:t>La comptabilite intelligente pour les cabinets CPA du Quebec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"/>
              </a:defRPr>
            </a:pPr>
            <a:r>
              <a:t>Fiche-resume | One-Pager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3 avantages 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3566160" cy="411480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E75B6"/>
                </a:solidFill>
                <a:latin typeface="Segoe UI"/>
              </a:defRPr>
            </a:pPr>
            <a:r>
              <a:t>160 h/mois</a:t>
            </a:r>
          </a:p>
          <a:p>
            <a:pPr algn="ctr">
              <a:defRPr sz="2400">
                <a:solidFill>
                  <a:srgbClr val="FFFFFF"/>
                </a:solidFill>
                <a:latin typeface="Segoe UI"/>
              </a:defRPr>
            </a:pPr>
            <a:r>
              <a:t>recuperees</a:t>
            </a:r>
          </a:p>
          <a:p>
            <a:pPr>
              <a:defRPr sz="800"/>
            </a:pPr>
          </a:p>
          <a:p>
            <a:pPr algn="ctr">
              <a:spcAft>
                <a:spcPts val="400"/>
              </a:spcAft>
              <a:defRPr sz="1600">
                <a:solidFill>
                  <a:srgbClr val="9DC3E6"/>
                </a:solidFill>
                <a:latin typeface="Segoe UI"/>
              </a:defRPr>
            </a:pPr>
            <a:r>
              <a:t>De 5h de saisie/client a 25 min.</a:t>
            </a:r>
          </a:p>
          <a:p>
            <a:pPr algn="ctr">
              <a:spcAft>
                <a:spcPts val="400"/>
              </a:spcAft>
              <a:defRPr sz="1600">
                <a:solidFill>
                  <a:srgbClr val="9DC3E6"/>
                </a:solidFill>
                <a:latin typeface="Segoe UI"/>
              </a:defRPr>
            </a:pPr>
            <a:r>
              <a:t>30 clients = 24 000$/mois a 150$/h.</a:t>
            </a:r>
          </a:p>
          <a:p>
            <a:pPr algn="ctr">
              <a:spcAft>
                <a:spcPts val="400"/>
              </a:spcAft>
              <a:defRPr sz="1600">
                <a:solidFill>
                  <a:srgbClr val="9DC3E6"/>
                </a:solidFill>
                <a:latin typeface="Segoe UI"/>
              </a:defRPr>
            </a:pPr>
            <a:r>
              <a:t>ROI: 9 600%.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103120"/>
            <a:ext cx="3566160" cy="411480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B050"/>
                </a:solidFill>
                <a:latin typeface="Segoe UI"/>
              </a:defRPr>
            </a:pPr>
            <a:r>
              <a:t>Zero erreur</a:t>
            </a:r>
          </a:p>
          <a:p>
            <a:pPr algn="ctr">
              <a:defRPr sz="2400">
                <a:solidFill>
                  <a:srgbClr val="FFFFFF"/>
                </a:solidFill>
                <a:latin typeface="Segoe UI"/>
              </a:defRPr>
            </a:pPr>
            <a:r>
              <a:t>de taxe</a:t>
            </a:r>
          </a:p>
          <a:p>
            <a:pPr>
              <a:defRPr sz="800"/>
            </a:pPr>
          </a:p>
          <a:p>
            <a:pPr algn="ctr">
              <a:spcAft>
                <a:spcPts val="400"/>
              </a:spcAft>
              <a:defRPr sz="1600">
                <a:solidFill>
                  <a:srgbClr val="9DC3E6"/>
                </a:solidFill>
                <a:latin typeface="Segoe UI"/>
              </a:defRPr>
            </a:pPr>
            <a:r>
              <a:t>TPS/TVQ/TVH par regles math, pas IA.</a:t>
            </a:r>
          </a:p>
          <a:p>
            <a:pPr algn="ctr">
              <a:spcAft>
                <a:spcPts val="400"/>
              </a:spcAft>
              <a:defRPr sz="1600">
                <a:solidFill>
                  <a:srgbClr val="9DC3E6"/>
                </a:solidFill>
                <a:latin typeface="Segoe UI"/>
              </a:defRPr>
            </a:pPr>
            <a:r>
              <a:t>Calcul parallele (jamais en cascade).</a:t>
            </a:r>
          </a:p>
          <a:p>
            <a:pPr algn="ctr">
              <a:spcAft>
                <a:spcPts val="400"/>
              </a:spcAft>
              <a:defRPr sz="1600">
                <a:solidFill>
                  <a:srgbClr val="9DC3E6"/>
                </a:solidFill>
                <a:latin typeface="Segoe UI"/>
              </a:defRPr>
            </a:pPr>
            <a:r>
              <a:t>FPZ-500 pre-rempli. 98 tests: 0 echec.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103120"/>
            <a:ext cx="3566160" cy="411480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D700"/>
                </a:solidFill>
                <a:latin typeface="Segoe UI"/>
              </a:defRPr>
            </a:pPr>
            <a:r>
              <a:t>Donnees</a:t>
            </a:r>
          </a:p>
          <a:p>
            <a:pPr algn="ctr">
              <a:defRPr sz="2400">
                <a:solidFill>
                  <a:srgbClr val="FFFFFF"/>
                </a:solidFill>
                <a:latin typeface="Segoe UI"/>
              </a:defRPr>
            </a:pPr>
            <a:r>
              <a:t>chez vous</a:t>
            </a:r>
          </a:p>
          <a:p>
            <a:pPr>
              <a:defRPr sz="800"/>
            </a:pPr>
          </a:p>
          <a:p>
            <a:pPr algn="ctr">
              <a:spcAft>
                <a:spcPts val="400"/>
              </a:spcAft>
              <a:defRPr sz="1600">
                <a:solidFill>
                  <a:srgbClr val="9DC3E6"/>
                </a:solidFill>
                <a:latin typeface="Segoe UI"/>
              </a:defRPr>
            </a:pPr>
            <a:r>
              <a:t>Serveur local. SQLite. Loi 25 conforme.</a:t>
            </a:r>
          </a:p>
          <a:p>
            <a:pPr algn="ctr">
              <a:spcAft>
                <a:spcPts val="400"/>
              </a:spcAft>
              <a:defRPr sz="1600">
                <a:solidFill>
                  <a:srgbClr val="9DC3E6"/>
                </a:solidFill>
                <a:latin typeface="Segoe UI"/>
              </a:defRPr>
            </a:pPr>
            <a:r>
              <a:t>Jamais dans le cloud.</a:t>
            </a:r>
          </a:p>
          <a:p>
            <a:pPr algn="ctr">
              <a:spcAft>
                <a:spcPts val="400"/>
              </a:spcAft>
              <a:defRPr sz="1600">
                <a:solidFill>
                  <a:srgbClr val="9DC3E6"/>
                </a:solidFill>
                <a:latin typeface="Segoe UI"/>
              </a:defRPr>
            </a:pPr>
            <a:r>
              <a:t>Aucun serveur americain.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Fonctionnalites incluses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3566160" cy="118872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D700"/>
                </a:solidFill>
                <a:latin typeface="Segoe UI"/>
              </a:defRPr>
            </a:pPr>
            <a:r>
              <a:t>Extraction IA</a:t>
            </a:r>
          </a:p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Photos, PDF, courriels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103120"/>
            <a:ext cx="3566160" cy="118872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D700"/>
                </a:solidFill>
                <a:latin typeface="Segoe UI"/>
              </a:defRPr>
            </a:pPr>
            <a:r>
              <a:t>Detection de fraude</a:t>
            </a:r>
          </a:p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13 regles deterministes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103120"/>
            <a:ext cx="3566160" cy="118872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D700"/>
                </a:solidFill>
                <a:latin typeface="Segoe UI"/>
              </a:defRPr>
            </a:pPr>
            <a:r>
              <a:t>Rapprochement bancaire</a:t>
            </a:r>
          </a:p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Desjardins, BMO, TD, RBC, BN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20439"/>
            <a:ext cx="3566160" cy="118872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D700"/>
                </a:solidFill>
                <a:latin typeface="Segoe UI"/>
              </a:defRPr>
            </a:pPr>
            <a:r>
              <a:t>Module d'audit</a:t>
            </a:r>
          </a:p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CAS 315-700, CSQC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520439"/>
            <a:ext cx="3566160" cy="118872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D700"/>
                </a:solidFill>
                <a:latin typeface="Segoe UI"/>
              </a:defRPr>
            </a:pPr>
            <a:r>
              <a:t>Calendrier de production</a:t>
            </a:r>
          </a:p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Echeances TPS/TVQ + rappels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520439"/>
            <a:ext cx="3566160" cy="118872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D700"/>
                </a:solidFill>
                <a:latin typeface="Segoe UI"/>
              </a:defRPr>
            </a:pPr>
            <a:r>
              <a:t>Suivi du temps</a:t>
            </a:r>
          </a:p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Entrees + facturation TPS/TVQ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3566160" cy="118872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D700"/>
                </a:solidFill>
                <a:latin typeface="Segoe UI"/>
              </a:defRPr>
            </a:pPr>
            <a:r>
              <a:t>Communications clients</a:t>
            </a:r>
          </a:p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Messages bilingues par 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937760"/>
            <a:ext cx="3566160" cy="118872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D700"/>
                </a:solidFill>
                <a:latin typeface="Segoe UI"/>
              </a:defRPr>
            </a:pPr>
            <a:r>
              <a:t>Microsoft 365</a:t>
            </a:r>
          </a:p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Courriel, SharePoint, OneDrive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937760"/>
            <a:ext cx="3566160" cy="118872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D700"/>
                </a:solidFill>
                <a:latin typeface="Segoe UI"/>
              </a:defRPr>
            </a:pPr>
            <a:r>
              <a:t>Bilingue FR/EN</a:t>
            </a:r>
          </a:p>
          <a:p>
            <a:pPr>
              <a:defRPr sz="1600">
                <a:solidFill>
                  <a:srgbClr val="FFFFFF"/>
                </a:solidFill>
                <a:latin typeface="Segoe UI"/>
              </a:defRPr>
            </a:pPr>
            <a:r>
              <a:t>100% traduit, terminologie CPA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Forfaits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697480" cy="320040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E75B6"/>
                </a:solidFill>
                <a:latin typeface="Segoe UI"/>
              </a:defRPr>
            </a:pPr>
            <a:r>
              <a:t>Essentiel</a:t>
            </a:r>
          </a:p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99$</a:t>
            </a:r>
          </a:p>
          <a:p>
            <a:pPr algn="ctr">
              <a:defRPr sz="1600">
                <a:solidFill>
                  <a:srgbClr val="9DC3E6"/>
                </a:solidFill>
                <a:latin typeface="Segoe UI"/>
              </a:defRPr>
            </a:pPr>
            <a:r>
              <a:t>/mois</a:t>
            </a:r>
          </a:p>
          <a:p>
            <a:pPr algn="ctr">
              <a:spcBef>
                <a:spcPts val="12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10 clients | 3 users</a:t>
            </a:r>
          </a:p>
          <a:p>
            <a:pPr algn="ctr">
              <a:defRPr sz="1400" i="1">
                <a:solidFill>
                  <a:srgbClr val="9DC3E6"/>
                </a:solidFill>
                <a:latin typeface="Segoe UI"/>
              </a:defRPr>
            </a:pPr>
            <a:r>
              <a:t>CPA solo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2103120"/>
            <a:ext cx="2697480" cy="320040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E75B6"/>
                </a:solidFill>
                <a:latin typeface="Segoe UI"/>
              </a:defRPr>
            </a:pPr>
            <a:r>
              <a:t>Professionnel</a:t>
            </a:r>
          </a:p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249$</a:t>
            </a:r>
          </a:p>
          <a:p>
            <a:pPr algn="ctr">
              <a:defRPr sz="1600">
                <a:solidFill>
                  <a:srgbClr val="9DC3E6"/>
                </a:solidFill>
                <a:latin typeface="Segoe UI"/>
              </a:defRPr>
            </a:pPr>
            <a:r>
              <a:t>/mois</a:t>
            </a:r>
          </a:p>
          <a:p>
            <a:pPr algn="ctr">
              <a:spcBef>
                <a:spcPts val="12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30 clients | 5 users</a:t>
            </a:r>
          </a:p>
          <a:p>
            <a:pPr algn="ctr">
              <a:defRPr sz="1400" i="1">
                <a:solidFill>
                  <a:srgbClr val="9DC3E6"/>
                </a:solidFill>
                <a:latin typeface="Segoe UI"/>
              </a:defRPr>
            </a:pPr>
            <a:r>
              <a:t>Petit cabinet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2697480" cy="320040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40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406090"/>
                </a:solidFill>
                <a:latin typeface="Segoe UI"/>
              </a:defRPr>
            </a:pPr>
            <a:r>
              <a:t>Cabinet</a:t>
            </a:r>
          </a:p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499$</a:t>
            </a:r>
          </a:p>
          <a:p>
            <a:pPr algn="ctr">
              <a:defRPr sz="1600">
                <a:solidFill>
                  <a:srgbClr val="9DC3E6"/>
                </a:solidFill>
                <a:latin typeface="Segoe UI"/>
              </a:defRPr>
            </a:pPr>
            <a:r>
              <a:t>/mois</a:t>
            </a:r>
          </a:p>
          <a:p>
            <a:pPr algn="ctr">
              <a:spcBef>
                <a:spcPts val="12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75 clients | 15 users</a:t>
            </a:r>
          </a:p>
          <a:p>
            <a:pPr algn="ctr">
              <a:defRPr sz="1400" i="1">
                <a:solidFill>
                  <a:srgbClr val="9DC3E6"/>
                </a:solidFill>
                <a:latin typeface="Segoe UI"/>
              </a:defRPr>
            </a:pPr>
            <a:r>
              <a:t>Cabinet en croissance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2103120"/>
            <a:ext cx="2697480" cy="320040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D700"/>
                </a:solidFill>
                <a:latin typeface="Segoe UI"/>
              </a:defRPr>
            </a:pPr>
            <a:r>
              <a:t>Entreprise</a:t>
            </a:r>
          </a:p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999$</a:t>
            </a:r>
          </a:p>
          <a:p>
            <a:pPr algn="ctr">
              <a:defRPr sz="1600">
                <a:solidFill>
                  <a:srgbClr val="9DC3E6"/>
                </a:solidFill>
                <a:latin typeface="Segoe UI"/>
              </a:defRPr>
            </a:pPr>
            <a:r>
              <a:t>/mois</a:t>
            </a:r>
          </a:p>
          <a:p>
            <a:pPr algn="ctr">
              <a:spcBef>
                <a:spcPts val="12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Illimite</a:t>
            </a:r>
          </a:p>
          <a:p>
            <a:pPr algn="ctr">
              <a:defRPr sz="1400" i="1">
                <a:solidFill>
                  <a:srgbClr val="9DC3E6"/>
                </a:solidFill>
                <a:latin typeface="Segoe UI"/>
              </a:defRPr>
            </a:pPr>
            <a:r>
              <a:t>Grand cabinet +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FD700"/>
                </a:solidFill>
                <a:latin typeface="Segoe UI"/>
              </a:defRPr>
            </a:pPr>
            <a:r>
              <a:t>Installation: 500$ - 1 000$ (une fois)  |  Pilote gratuit de 30 jours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Securite et Loi 25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0B050"/>
                </a:solidFill>
                <a:latin typeface="Segoe UI"/>
              </a:rPr>
              <a:t>  </a:t>
            </a:r>
            <a:r>
              <a:rPr sz="2200">
                <a:solidFill>
                  <a:srgbClr val="FFFFFF"/>
                </a:solidFill>
                <a:latin typeface="Segoe UI"/>
              </a:rPr>
              <a:t>Donnees hebergees sur votre serveur local --- jamais dans le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0B050"/>
                </a:solidFill>
                <a:latin typeface="Segoe UI"/>
              </a:rPr>
              <a:t>  </a:t>
            </a:r>
            <a:r>
              <a:rPr sz="2200">
                <a:solidFill>
                  <a:srgbClr val="FFFFFF"/>
                </a:solidFill>
                <a:latin typeface="Segoe UI"/>
              </a:rPr>
              <a:t>Authentification bcrypt avec sessions securisees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7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0B050"/>
                </a:solidFill>
                <a:latin typeface="Segoe UI"/>
              </a:rPr>
              <a:t>  </a:t>
            </a:r>
            <a:r>
              <a:rPr sz="2200">
                <a:solidFill>
                  <a:srgbClr val="FFFFFF"/>
                </a:solidFill>
                <a:latin typeface="Segoe UI"/>
              </a:rPr>
              <a:t>Piste d'audit complete (qui, quoi, quand)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5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0B050"/>
                </a:solidFill>
                <a:latin typeface="Segoe UI"/>
              </a:rPr>
              <a:t>  </a:t>
            </a:r>
            <a:r>
              <a:rPr sz="2200">
                <a:solidFill>
                  <a:srgbClr val="FFFFFF"/>
                </a:solidFill>
                <a:latin typeface="Segoe UI"/>
              </a:rPr>
              <a:t>Sauvegardes automatiques quotidiennes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0B050"/>
                </a:solidFill>
                <a:latin typeface="Segoe UI"/>
              </a:rPr>
              <a:t>  </a:t>
            </a:r>
            <a:r>
              <a:rPr sz="2200">
                <a:solidFill>
                  <a:srgbClr val="FFFFFF"/>
                </a:solidFill>
                <a:latin typeface="Segoe UI"/>
              </a:rPr>
              <a:t>Acces distant securise via Cloudflare Tunnel (HTTPS)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0B050"/>
                </a:solidFill>
                <a:latin typeface="Segoe UI"/>
              </a:rPr>
              <a:t>  </a:t>
            </a:r>
            <a:r>
              <a:rPr sz="2200">
                <a:solidFill>
                  <a:srgbClr val="FFFFFF"/>
                </a:solidFill>
                <a:latin typeface="Segoe UI"/>
              </a:rPr>
              <a:t>Aucun acces de LedgerLink a vos donnees clients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52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560320"/>
            <a:ext cx="27432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FFFFFF"/>
                </a:solidFill>
                <a:latin typeface="Segoe UI"/>
              </a:defRPr>
            </a:pPr>
            <a:r>
              <a:t>support@ledgerlink.ca</a:t>
            </a:r>
          </a:p>
          <a:p>
            <a:pPr>
              <a:spcAft>
                <a:spcPts val="1000"/>
              </a:spcAft>
              <a:defRPr sz="2400" b="0">
                <a:solidFill>
                  <a:srgbClr val="FFFFFF"/>
                </a:solidFill>
                <a:latin typeface="Segoe UI"/>
              </a:defRPr>
            </a:pPr>
            <a:r>
              <a:t>ledgerlink.ca</a:t>
            </a:r>
          </a:p>
          <a:p>
            <a:pPr>
              <a:spcAft>
                <a:spcPts val="1000"/>
              </a:spcAft>
              <a:defRPr sz="2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000"/>
              </a:spcAft>
              <a:defRPr sz="2400" b="0">
                <a:solidFill>
                  <a:srgbClr val="FFFFFF"/>
                </a:solidFill>
                <a:latin typeface="Segoe UI"/>
              </a:defRPr>
            </a:pPr>
            <a:r>
              <a:t>Reservez une demo de 15 minutes</a:t>
            </a:r>
          </a:p>
          <a:p>
            <a:pPr>
              <a:spcAft>
                <a:spcPts val="1000"/>
              </a:spcAft>
              <a:defRPr sz="2400" b="0">
                <a:solidFill>
                  <a:srgbClr val="FFFFFF"/>
                </a:solidFill>
                <a:latin typeface="Segoe UI"/>
              </a:defRPr>
            </a:pPr>
            <a:r>
              <a:t>On vous montre le logiciel avec vos vrais documents.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